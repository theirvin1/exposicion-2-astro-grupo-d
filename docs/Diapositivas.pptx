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9" r:id="rId4"/>
  </p:sldMasterIdLst>
  <p:notesMasterIdLst>
    <p:notesMasterId r:id="rId15"/>
  </p:notesMasterIdLst>
  <p:sldIdLst>
    <p:sldId id="270" r:id="rId5"/>
    <p:sldId id="271" r:id="rId6"/>
    <p:sldId id="280" r:id="rId7"/>
    <p:sldId id="322" r:id="rId8"/>
    <p:sldId id="282" r:id="rId9"/>
    <p:sldId id="289" r:id="rId10"/>
    <p:sldId id="334" r:id="rId11"/>
    <p:sldId id="323" r:id="rId12"/>
    <p:sldId id="318" r:id="rId13"/>
    <p:sldId id="31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27275A-5004-4488-BB2B-8541C3EB84DB}" v="6" dt="2018-08-08T09:05:58.3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99" d="100"/>
          <a:sy n="99" d="100"/>
        </p:scale>
        <p:origin x="10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Hopkins" userId="414761a2-a39d-49a9-939a-7a64691270b2" providerId="ADAL" clId="{BBE75339-6507-428B-93DB-06AA31F99E2D}"/>
    <pc:docChg chg="undo redo custSel modSld">
      <pc:chgData name="David Hopkins" userId="414761a2-a39d-49a9-939a-7a64691270b2" providerId="ADAL" clId="{BBE75339-6507-428B-93DB-06AA31F99E2D}" dt="2018-06-18T13:49:15.546" v="959" actId="20577"/>
      <pc:docMkLst>
        <pc:docMk/>
      </pc:docMkLst>
    </pc:docChg>
  </pc:docChgLst>
  <pc:docChgLst>
    <pc:chgData name="David Hopkins" userId="414761a2-a39d-49a9-939a-7a64691270b2" providerId="ADAL" clId="{F4C7A770-C28E-42D9-818E-4764ACE9C44E}"/>
    <pc:docChg chg="undo custSel addSld delSld modSld">
      <pc:chgData name="David Hopkins" userId="414761a2-a39d-49a9-939a-7a64691270b2" providerId="ADAL" clId="{F4C7A770-C28E-42D9-818E-4764ACE9C44E}" dt="2018-06-28T09:02:57.046" v="166" actId="962"/>
      <pc:docMkLst>
        <pc:docMk/>
      </pc:docMkLst>
      <pc:sldChg chg="addSp modSp add">
        <pc:chgData name="David Hopkins" userId="414761a2-a39d-49a9-939a-7a64691270b2" providerId="ADAL" clId="{F4C7A770-C28E-42D9-818E-4764ACE9C44E}" dt="2018-06-28T09:02:57.046" v="166" actId="962"/>
        <pc:sldMkLst>
          <pc:docMk/>
          <pc:sldMk cId="3304534977" sldId="258"/>
        </pc:sldMkLst>
        <pc:spChg chg="mod">
          <ac:chgData name="David Hopkins" userId="414761a2-a39d-49a9-939a-7a64691270b2" providerId="ADAL" clId="{F4C7A770-C28E-42D9-818E-4764ACE9C44E}" dt="2018-06-28T09:02:51.441" v="165" actId="164"/>
          <ac:spMkLst>
            <pc:docMk/>
            <pc:sldMk cId="3304534977" sldId="258"/>
            <ac:spMk id="10" creationId="{95650CD8-1EE6-432F-9463-A826B56A873E}"/>
          </ac:spMkLst>
        </pc:spChg>
        <pc:spChg chg="mod">
          <ac:chgData name="David Hopkins" userId="414761a2-a39d-49a9-939a-7a64691270b2" providerId="ADAL" clId="{F4C7A770-C28E-42D9-818E-4764ACE9C44E}" dt="2018-06-28T09:02:51.441" v="165" actId="164"/>
          <ac:spMkLst>
            <pc:docMk/>
            <pc:sldMk cId="3304534977" sldId="258"/>
            <ac:spMk id="17" creationId="{27EEDD8C-A298-4FBE-AD67-AB1AC54EDD8E}"/>
          </ac:spMkLst>
        </pc:spChg>
        <pc:spChg chg="mod">
          <ac:chgData name="David Hopkins" userId="414761a2-a39d-49a9-939a-7a64691270b2" providerId="ADAL" clId="{F4C7A770-C28E-42D9-818E-4764ACE9C44E}" dt="2018-06-28T09:02:51.441" v="165" actId="164"/>
          <ac:spMkLst>
            <pc:docMk/>
            <pc:sldMk cId="3304534977" sldId="258"/>
            <ac:spMk id="20" creationId="{F8A6DF15-9040-43D4-83D9-50874D35BED2}"/>
          </ac:spMkLst>
        </pc:spChg>
        <pc:grpChg chg="add mod">
          <ac:chgData name="David Hopkins" userId="414761a2-a39d-49a9-939a-7a64691270b2" providerId="ADAL" clId="{F4C7A770-C28E-42D9-818E-4764ACE9C44E}" dt="2018-06-28T09:02:57.046" v="166" actId="962"/>
          <ac:grpSpMkLst>
            <pc:docMk/>
            <pc:sldMk cId="3304534977" sldId="258"/>
            <ac:grpSpMk id="2" creationId="{649B1AAF-C809-4BE9-BF2C-18D2A74AB664}"/>
          </ac:grpSpMkLst>
        </pc:grpChg>
        <pc:picChg chg="mod">
          <ac:chgData name="David Hopkins" userId="414761a2-a39d-49a9-939a-7a64691270b2" providerId="ADAL" clId="{F4C7A770-C28E-42D9-818E-4764ACE9C44E}" dt="2018-06-28T09:02:51.441" v="165" actId="164"/>
          <ac:picMkLst>
            <pc:docMk/>
            <pc:sldMk cId="3304534977" sldId="258"/>
            <ac:picMk id="11" creationId="{974115D0-7F9B-4831-8833-0BA54887AB9E}"/>
          </ac:picMkLst>
        </pc:picChg>
      </pc:sldChg>
      <pc:sldChg chg="addSp modSp add">
        <pc:chgData name="David Hopkins" userId="414761a2-a39d-49a9-939a-7a64691270b2" providerId="ADAL" clId="{F4C7A770-C28E-42D9-818E-4764ACE9C44E}" dt="2018-06-28T09:02:42.479" v="164" actId="962"/>
        <pc:sldMkLst>
          <pc:docMk/>
          <pc:sldMk cId="1071561068" sldId="260"/>
        </pc:sldMkLst>
        <pc:spChg chg="mod">
          <ac:chgData name="David Hopkins" userId="414761a2-a39d-49a9-939a-7a64691270b2" providerId="ADAL" clId="{F4C7A770-C28E-42D9-818E-4764ACE9C44E}" dt="2018-06-28T09:02:26.522" v="163" actId="164"/>
          <ac:spMkLst>
            <pc:docMk/>
            <pc:sldMk cId="1071561068" sldId="260"/>
            <ac:spMk id="12" creationId="{2CA8B576-3688-4F36-8A9A-7852B92A0202}"/>
          </ac:spMkLst>
        </pc:spChg>
        <pc:spChg chg="mod">
          <ac:chgData name="David Hopkins" userId="414761a2-a39d-49a9-939a-7a64691270b2" providerId="ADAL" clId="{F4C7A770-C28E-42D9-818E-4764ACE9C44E}" dt="2018-06-28T09:02:26.522" v="163" actId="164"/>
          <ac:spMkLst>
            <pc:docMk/>
            <pc:sldMk cId="1071561068" sldId="260"/>
            <ac:spMk id="13" creationId="{A6817EF0-1454-46EA-8D01-85B74F1678B5}"/>
          </ac:spMkLst>
        </pc:spChg>
        <pc:spChg chg="mod">
          <ac:chgData name="David Hopkins" userId="414761a2-a39d-49a9-939a-7a64691270b2" providerId="ADAL" clId="{F4C7A770-C28E-42D9-818E-4764ACE9C44E}" dt="2018-06-28T09:02:26.522" v="163" actId="164"/>
          <ac:spMkLst>
            <pc:docMk/>
            <pc:sldMk cId="1071561068" sldId="260"/>
            <ac:spMk id="14" creationId="{E6F38A83-0D43-4BB2-A6E1-EF52D195B184}"/>
          </ac:spMkLst>
        </pc:spChg>
        <pc:spChg chg="mod">
          <ac:chgData name="David Hopkins" userId="414761a2-a39d-49a9-939a-7a64691270b2" providerId="ADAL" clId="{F4C7A770-C28E-42D9-818E-4764ACE9C44E}" dt="2018-06-28T09:02:26.522" v="163" actId="164"/>
          <ac:spMkLst>
            <pc:docMk/>
            <pc:sldMk cId="1071561068" sldId="260"/>
            <ac:spMk id="16" creationId="{64C02631-9FDD-4AF6-94C6-2FA9F2831D20}"/>
          </ac:spMkLst>
        </pc:spChg>
        <pc:spChg chg="mod">
          <ac:chgData name="David Hopkins" userId="414761a2-a39d-49a9-939a-7a64691270b2" providerId="ADAL" clId="{F4C7A770-C28E-42D9-818E-4764ACE9C44E}" dt="2018-06-28T09:02:26.522" v="163" actId="164"/>
          <ac:spMkLst>
            <pc:docMk/>
            <pc:sldMk cId="1071561068" sldId="260"/>
            <ac:spMk id="19" creationId="{703C7623-FC76-4CD5-823D-9B14460DB9E1}"/>
          </ac:spMkLst>
        </pc:spChg>
        <pc:spChg chg="mod">
          <ac:chgData name="David Hopkins" userId="414761a2-a39d-49a9-939a-7a64691270b2" providerId="ADAL" clId="{F4C7A770-C28E-42D9-818E-4764ACE9C44E}" dt="2018-06-28T09:02:26.522" v="163" actId="164"/>
          <ac:spMkLst>
            <pc:docMk/>
            <pc:sldMk cId="1071561068" sldId="260"/>
            <ac:spMk id="20" creationId="{2F3500B0-385B-4A8E-970C-87A5162E2948}"/>
          </ac:spMkLst>
        </pc:spChg>
        <pc:spChg chg="mod">
          <ac:chgData name="David Hopkins" userId="414761a2-a39d-49a9-939a-7a64691270b2" providerId="ADAL" clId="{F4C7A770-C28E-42D9-818E-4764ACE9C44E}" dt="2018-06-28T09:02:26.522" v="163" actId="164"/>
          <ac:spMkLst>
            <pc:docMk/>
            <pc:sldMk cId="1071561068" sldId="260"/>
            <ac:spMk id="21" creationId="{3DDB314C-721F-4AB1-903B-8A65D874228D}"/>
          </ac:spMkLst>
        </pc:spChg>
        <pc:spChg chg="mod">
          <ac:chgData name="David Hopkins" userId="414761a2-a39d-49a9-939a-7a64691270b2" providerId="ADAL" clId="{F4C7A770-C28E-42D9-818E-4764ACE9C44E}" dt="2018-06-28T09:02:26.522" v="163" actId="164"/>
          <ac:spMkLst>
            <pc:docMk/>
            <pc:sldMk cId="1071561068" sldId="260"/>
            <ac:spMk id="22" creationId="{AB584A37-30D1-4FA4-900C-FBDB7748536B}"/>
          </ac:spMkLst>
        </pc:spChg>
        <pc:grpChg chg="add mod">
          <ac:chgData name="David Hopkins" userId="414761a2-a39d-49a9-939a-7a64691270b2" providerId="ADAL" clId="{F4C7A770-C28E-42D9-818E-4764ACE9C44E}" dt="2018-06-28T09:02:42.479" v="164" actId="962"/>
          <ac:grpSpMkLst>
            <pc:docMk/>
            <pc:sldMk cId="1071561068" sldId="260"/>
            <ac:grpSpMk id="2" creationId="{39AE75E1-E070-4070-8E35-E143A761AA44}"/>
          </ac:grpSpMkLst>
        </pc:grpChg>
        <pc:picChg chg="mod">
          <ac:chgData name="David Hopkins" userId="414761a2-a39d-49a9-939a-7a64691270b2" providerId="ADAL" clId="{F4C7A770-C28E-42D9-818E-4764ACE9C44E}" dt="2018-06-28T09:02:26.522" v="163" actId="164"/>
          <ac:picMkLst>
            <pc:docMk/>
            <pc:sldMk cId="1071561068" sldId="260"/>
            <ac:picMk id="15" creationId="{1B82359A-FB32-493E-B411-3F0BBC45D5CE}"/>
          </ac:picMkLst>
        </pc:picChg>
        <pc:picChg chg="mod">
          <ac:chgData name="David Hopkins" userId="414761a2-a39d-49a9-939a-7a64691270b2" providerId="ADAL" clId="{F4C7A770-C28E-42D9-818E-4764ACE9C44E}" dt="2018-06-28T09:02:26.522" v="163" actId="164"/>
          <ac:picMkLst>
            <pc:docMk/>
            <pc:sldMk cId="1071561068" sldId="260"/>
            <ac:picMk id="17" creationId="{9F6644C8-9C25-4A33-B37A-9C5FA1BB43E1}"/>
          </ac:picMkLst>
        </pc:picChg>
        <pc:picChg chg="mod">
          <ac:chgData name="David Hopkins" userId="414761a2-a39d-49a9-939a-7a64691270b2" providerId="ADAL" clId="{F4C7A770-C28E-42D9-818E-4764ACE9C44E}" dt="2018-06-28T09:02:26.522" v="163" actId="164"/>
          <ac:picMkLst>
            <pc:docMk/>
            <pc:sldMk cId="1071561068" sldId="260"/>
            <ac:picMk id="23" creationId="{D2614768-D639-430A-A805-FC966946EF5B}"/>
          </ac:picMkLst>
        </pc:picChg>
      </pc:sldChg>
    </pc:docChg>
  </pc:docChgLst>
  <pc:docChgLst>
    <pc:chgData name="David Hopkins" userId="414761a2-a39d-49a9-939a-7a64691270b2" providerId="ADAL" clId="{9C27275A-5004-4488-BB2B-8541C3EB84DB}"/>
    <pc:docChg chg="modSld">
      <pc:chgData name="David Hopkins" userId="414761a2-a39d-49a9-939a-7a64691270b2" providerId="ADAL" clId="{9C27275A-5004-4488-BB2B-8541C3EB84DB}" dt="2018-08-08T09:05:58.341" v="5" actId="2711"/>
      <pc:docMkLst>
        <pc:docMk/>
      </pc:docMkLst>
      <pc:sldChg chg="modSp">
        <pc:chgData name="David Hopkins" userId="414761a2-a39d-49a9-939a-7a64691270b2" providerId="ADAL" clId="{9C27275A-5004-4488-BB2B-8541C3EB84DB}" dt="2018-08-08T09:05:58.341" v="5" actId="2711"/>
        <pc:sldMkLst>
          <pc:docMk/>
          <pc:sldMk cId="3304534977" sldId="258"/>
        </pc:sldMkLst>
        <pc:spChg chg="mod">
          <ac:chgData name="David Hopkins" userId="414761a2-a39d-49a9-939a-7a64691270b2" providerId="ADAL" clId="{9C27275A-5004-4488-BB2B-8541C3EB84DB}" dt="2018-08-08T09:05:54.106" v="4" actId="2711"/>
          <ac:spMkLst>
            <pc:docMk/>
            <pc:sldMk cId="3304534977" sldId="258"/>
            <ac:spMk id="10" creationId="{95650CD8-1EE6-432F-9463-A826B56A873E}"/>
          </ac:spMkLst>
        </pc:spChg>
        <pc:spChg chg="mod">
          <ac:chgData name="David Hopkins" userId="414761a2-a39d-49a9-939a-7a64691270b2" providerId="ADAL" clId="{9C27275A-5004-4488-BB2B-8541C3EB84DB}" dt="2018-08-08T09:05:58.341" v="5" actId="2711"/>
          <ac:spMkLst>
            <pc:docMk/>
            <pc:sldMk cId="3304534977" sldId="258"/>
            <ac:spMk id="20" creationId="{F8A6DF15-9040-43D4-83D9-50874D35BED2}"/>
          </ac:spMkLst>
        </pc:spChg>
      </pc:sldChg>
      <pc:sldChg chg="modSp">
        <pc:chgData name="David Hopkins" userId="414761a2-a39d-49a9-939a-7a64691270b2" providerId="ADAL" clId="{9C27275A-5004-4488-BB2B-8541C3EB84DB}" dt="2018-08-08T09:05:45.474" v="3" actId="2711"/>
        <pc:sldMkLst>
          <pc:docMk/>
          <pc:sldMk cId="1071561068" sldId="260"/>
        </pc:sldMkLst>
        <pc:spChg chg="mod">
          <ac:chgData name="David Hopkins" userId="414761a2-a39d-49a9-939a-7a64691270b2" providerId="ADAL" clId="{9C27275A-5004-4488-BB2B-8541C3EB84DB}" dt="2018-08-08T09:05:45.474" v="3" actId="2711"/>
          <ac:spMkLst>
            <pc:docMk/>
            <pc:sldMk cId="1071561068" sldId="260"/>
            <ac:spMk id="12" creationId="{2CA8B576-3688-4F36-8A9A-7852B92A0202}"/>
          </ac:spMkLst>
        </pc:spChg>
        <pc:spChg chg="mod">
          <ac:chgData name="David Hopkins" userId="414761a2-a39d-49a9-939a-7a64691270b2" providerId="ADAL" clId="{9C27275A-5004-4488-BB2B-8541C3EB84DB}" dt="2018-08-08T09:05:36.469" v="2" actId="2711"/>
          <ac:spMkLst>
            <pc:docMk/>
            <pc:sldMk cId="1071561068" sldId="260"/>
            <ac:spMk id="13" creationId="{A6817EF0-1454-46EA-8D01-85B74F1678B5}"/>
          </ac:spMkLst>
        </pc:spChg>
        <pc:spChg chg="mod">
          <ac:chgData name="David Hopkins" userId="414761a2-a39d-49a9-939a-7a64691270b2" providerId="ADAL" clId="{9C27275A-5004-4488-BB2B-8541C3EB84DB}" dt="2018-08-08T09:05:20.429" v="0" actId="2711"/>
          <ac:spMkLst>
            <pc:docMk/>
            <pc:sldMk cId="1071561068" sldId="260"/>
            <ac:spMk id="14" creationId="{E6F38A83-0D43-4BB2-A6E1-EF52D195B184}"/>
          </ac:spMkLst>
        </pc:spChg>
        <pc:spChg chg="mod">
          <ac:chgData name="David Hopkins" userId="414761a2-a39d-49a9-939a-7a64691270b2" providerId="ADAL" clId="{9C27275A-5004-4488-BB2B-8541C3EB84DB}" dt="2018-08-08T09:05:27.206" v="1" actId="2711"/>
          <ac:spMkLst>
            <pc:docMk/>
            <pc:sldMk cId="1071561068" sldId="260"/>
            <ac:spMk id="21" creationId="{3DDB314C-721F-4AB1-903B-8A65D874228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6F4F53-F949-41F3-B64A-709F3A2DD33E}" type="datetimeFigureOut">
              <a:rPr lang="es-EC" smtClean="0"/>
              <a:t>25/7/2026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9BD059-B7F7-4BEE-90D3-D80C2B88AB8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470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sv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.png"/><Relationship Id="rId7" Type="http://schemas.openxmlformats.org/officeDocument/2006/relationships/image" Target="../media/image17.sv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11" Type="http://schemas.openxmlformats.org/officeDocument/2006/relationships/image" Target="../media/image21.svg"/><Relationship Id="rId5" Type="http://schemas.openxmlformats.org/officeDocument/2006/relationships/image" Target="../media/image8.svg"/><Relationship Id="rId10" Type="http://schemas.openxmlformats.org/officeDocument/2006/relationships/image" Target="../media/image20.svg"/><Relationship Id="rId4" Type="http://schemas.openxmlformats.org/officeDocument/2006/relationships/image" Target="../media/image2.png"/><Relationship Id="rId9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778000"/>
            <a:ext cx="11601450" cy="137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 b="1" i="0" u="none" strike="noStrike" cap="none" dirty="0">
                <a:solidFill>
                  <a:srgbClr val="FF5D01"/>
                </a:solidFill>
                <a:latin typeface="Poppins"/>
                <a:ea typeface="Poppins"/>
                <a:cs typeface="Poppins"/>
                <a:sym typeface="Poppins"/>
              </a:rPr>
              <a:t>ASTRO</a:t>
            </a:r>
            <a:r>
              <a:rPr lang="es-ES" sz="44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Y EL CONSUMO</a:t>
            </a:r>
          </a:p>
          <a:p>
            <a:pPr marL="0" marR="0" lvl="0" indent="0" algn="ctr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s-ES" sz="44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 </a:t>
            </a:r>
            <a:r>
              <a:rPr lang="es-ES" sz="4400" b="1" i="0" u="none" strike="noStrike" cap="none" dirty="0">
                <a:solidFill>
                  <a:srgbClr val="FF5D01"/>
                </a:solidFill>
                <a:latin typeface="Poppins"/>
                <a:ea typeface="Poppins"/>
                <a:cs typeface="Poppins"/>
                <a:sym typeface="Poppins"/>
              </a:rPr>
              <a:t>APIs REST</a:t>
            </a:r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564023"/>
            <a:ext cx="11049000" cy="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64748B"/>
                </a:solidFill>
                <a:latin typeface="Inter Light"/>
                <a:ea typeface="Inter Light"/>
                <a:cs typeface="Inter Light"/>
                <a:sym typeface="Inter Light"/>
              </a:rPr>
              <a:t>Integración con servicios web y bases de datos</a:t>
            </a:r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26781" y="571500"/>
            <a:ext cx="2738437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4229100" y="4717850"/>
            <a:ext cx="3733800" cy="12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ES" dirty="0">
                <a:solidFill>
                  <a:schemeClr val="accent1">
                    <a:lumMod val="75000"/>
                  </a:schemeClr>
                </a:solidFill>
                <a:latin typeface="Inter Light"/>
                <a:ea typeface="Inter Light"/>
              </a:rPr>
              <a:t>EQUIPO D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75000"/>
                  </a:schemeClr>
                </a:solidFill>
                <a:latin typeface="Inter Light"/>
                <a:ea typeface="Inter Light"/>
              </a:rPr>
              <a:t>Irvin Cajas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75000"/>
                  </a:schemeClr>
                </a:solidFill>
                <a:latin typeface="Inter Light"/>
                <a:ea typeface="Inter Light"/>
              </a:rPr>
              <a:t>María Escudero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75000"/>
                  </a:schemeClr>
                </a:solidFill>
                <a:latin typeface="Inter Light"/>
                <a:ea typeface="Inter Light"/>
              </a:rPr>
              <a:t>Jaime Mariscal</a:t>
            </a:r>
          </a:p>
        </p:txBody>
      </p:sp>
      <p:sp>
        <p:nvSpPr>
          <p:cNvPr id="89" name="Google Shape;89;p13"/>
          <p:cNvSpPr txBox="1"/>
          <p:nvPr/>
        </p:nvSpPr>
        <p:spPr>
          <a:xfrm>
            <a:off x="571499" y="5991608"/>
            <a:ext cx="11049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5D01"/>
                </a:solidFill>
                <a:latin typeface="Poppins"/>
                <a:cs typeface="Poppins"/>
                <a:sym typeface="Inter Medium"/>
              </a:rPr>
              <a:t>Mayo 2026</a:t>
            </a:r>
            <a:endParaRPr sz="1500" b="1" dirty="0">
              <a:solidFill>
                <a:srgbClr val="FF5D01"/>
              </a:solidFill>
              <a:latin typeface="Poppins"/>
              <a:cs typeface="Poppins"/>
            </a:endParaRPr>
          </a:p>
        </p:txBody>
      </p:sp>
      <p:sp>
        <p:nvSpPr>
          <p:cNvPr id="90" name="Materia"/>
          <p:cNvSpPr txBox="1"/>
          <p:nvPr/>
        </p:nvSpPr>
        <p:spPr>
          <a:xfrm>
            <a:off x="571500" y="4174423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buNone/>
            </a:pPr>
            <a:r>
              <a:rPr lang="es-ES" sz="1600" b="1" dirty="0">
                <a:solidFill>
                  <a:srgbClr val="0F172A"/>
                </a:solidFill>
                <a:latin typeface="Poppins"/>
                <a:ea typeface="Poppins"/>
                <a:cs typeface="Poppins"/>
              </a:rPr>
              <a:t>Materia: </a:t>
            </a:r>
            <a:r>
              <a:rPr lang="es-ES" sz="1600" b="0" dirty="0">
                <a:solidFill>
                  <a:srgbClr val="475569"/>
                </a:solidFill>
                <a:latin typeface="Inter Light"/>
                <a:ea typeface="Inter Light"/>
              </a:rPr>
              <a:t>Aplicaciones Web</a:t>
            </a:r>
          </a:p>
        </p:txBody>
      </p:sp>
    </p:spTree>
    <p:extLst>
      <p:ext uri="{BB962C8B-B14F-4D97-AF65-F5344CB8AC3E}">
        <p14:creationId xmlns:p14="http://schemas.microsoft.com/office/powerpoint/2010/main" val="2605078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71500" y="629163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1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Historia y Evolución de Astro</a:t>
            </a:r>
          </a:p>
        </p:txBody>
      </p:sp>
      <p:sp>
        <p:nvSpPr>
          <p:cNvPr id="134" name="Google Shape;134;p16"/>
          <p:cNvSpPr/>
          <p:nvPr/>
        </p:nvSpPr>
        <p:spPr>
          <a:xfrm>
            <a:off x="571500" y="1171575"/>
            <a:ext cx="7134225" cy="1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87;p13" descr="image.png">
            <a:extLst>
              <a:ext uri="{FF2B5EF4-FFF2-40B4-BE49-F238E27FC236}">
                <a16:creationId xmlns:a16="http://schemas.microsoft.com/office/drawing/2014/main" id="{25EE6E07-A82A-BB6B-E3A6-F13228E6D16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257" t="8720" r="71036" b="7760"/>
          <a:stretch>
            <a:fillRect/>
          </a:stretch>
        </p:blipFill>
        <p:spPr>
          <a:xfrm>
            <a:off x="11309603" y="473773"/>
            <a:ext cx="621793" cy="795528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circle0"/>
          <p:cNvSpPr/>
          <p:nvPr/>
        </p:nvSpPr>
        <p:spPr>
          <a:xfrm>
            <a:off x="571500" y="1778000"/>
            <a:ext cx="381000" cy="381000"/>
          </a:xfrm>
          <a:prstGeom prst="ellipse">
            <a:avLst/>
          </a:prstGeom>
          <a:solidFill>
            <a:srgbClr val="FF5D01"/>
          </a:solidFill>
          <a:ln>
            <a:noFill/>
          </a:ln>
        </p:spPr>
        <p:txBody>
          <a:bodyPr wrap="squar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301" name="item0"/>
          <p:cNvSpPr txBox="1"/>
          <p:nvPr/>
        </p:nvSpPr>
        <p:spPr>
          <a:xfrm>
            <a:off x="1104900" y="1739900"/>
            <a:ext cx="4673600" cy="149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s-ES" sz="1700" b="1" dirty="0">
                <a:solidFill>
                  <a:srgbClr val="0F172A"/>
                </a:solidFill>
                <a:latin typeface="Poppins"/>
                <a:ea typeface="Poppins"/>
              </a:rPr>
              <a:t>2021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s-ES" sz="1400" dirty="0">
                <a:solidFill>
                  <a:srgbClr val="475569"/>
                </a:solidFill>
                <a:latin typeface="Inter"/>
                <a:ea typeface="Inter"/>
              </a:rPr>
              <a:t>Astro es lanzado oficialmente como proyecto de código abierto.</a:t>
            </a:r>
          </a:p>
        </p:txBody>
      </p:sp>
      <p:sp>
        <p:nvSpPr>
          <p:cNvPr id="302" name="circle1"/>
          <p:cNvSpPr/>
          <p:nvPr/>
        </p:nvSpPr>
        <p:spPr>
          <a:xfrm>
            <a:off x="6413500" y="1778000"/>
            <a:ext cx="381000" cy="381000"/>
          </a:xfrm>
          <a:prstGeom prst="ellipse">
            <a:avLst/>
          </a:prstGeom>
          <a:solidFill>
            <a:srgbClr val="FF5D01"/>
          </a:solidFill>
          <a:ln>
            <a:noFill/>
          </a:ln>
        </p:spPr>
        <p:txBody>
          <a:bodyPr wrap="squar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303" name="item1"/>
          <p:cNvSpPr txBox="1"/>
          <p:nvPr/>
        </p:nvSpPr>
        <p:spPr>
          <a:xfrm>
            <a:off x="6946900" y="1739900"/>
            <a:ext cx="4673600" cy="149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s-ES" sz="1700" b="1" dirty="0">
                <a:solidFill>
                  <a:srgbClr val="0F172A"/>
                </a:solidFill>
                <a:latin typeface="Poppins"/>
                <a:ea typeface="Poppins"/>
              </a:rPr>
              <a:t>Creador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s-ES" sz="1400" dirty="0">
                <a:solidFill>
                  <a:srgbClr val="475569"/>
                </a:solidFill>
                <a:latin typeface="Inter"/>
                <a:ea typeface="Inter"/>
              </a:rPr>
              <a:t>Desarrollado por Fred K. Schott y el equipo de Astro.</a:t>
            </a:r>
          </a:p>
        </p:txBody>
      </p:sp>
      <p:sp>
        <p:nvSpPr>
          <p:cNvPr id="304" name="circle2"/>
          <p:cNvSpPr/>
          <p:nvPr/>
        </p:nvSpPr>
        <p:spPr>
          <a:xfrm>
            <a:off x="571500" y="3403600"/>
            <a:ext cx="381000" cy="381000"/>
          </a:xfrm>
          <a:prstGeom prst="ellipse">
            <a:avLst/>
          </a:prstGeom>
          <a:solidFill>
            <a:srgbClr val="FF5D01"/>
          </a:solidFill>
          <a:ln>
            <a:noFill/>
          </a:ln>
        </p:spPr>
        <p:txBody>
          <a:bodyPr wrap="squar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305" name="item2"/>
          <p:cNvSpPr txBox="1"/>
          <p:nvPr/>
        </p:nvSpPr>
        <p:spPr>
          <a:xfrm>
            <a:off x="1104900" y="3365500"/>
            <a:ext cx="4673600" cy="149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s-ES" sz="1700" b="1" dirty="0">
                <a:solidFill>
                  <a:srgbClr val="0F172A"/>
                </a:solidFill>
                <a:latin typeface="Poppins"/>
                <a:ea typeface="Poppins"/>
              </a:rPr>
              <a:t>Evolución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s-ES" sz="1400" dirty="0">
                <a:solidFill>
                  <a:srgbClr val="475569"/>
                </a:solidFill>
                <a:latin typeface="Inter"/>
                <a:ea typeface="Inter"/>
              </a:rPr>
              <a:t>Surge como evolución de herramientas previas como Snowpack.</a:t>
            </a:r>
          </a:p>
        </p:txBody>
      </p:sp>
      <p:sp>
        <p:nvSpPr>
          <p:cNvPr id="306" name="circle3"/>
          <p:cNvSpPr/>
          <p:nvPr/>
        </p:nvSpPr>
        <p:spPr>
          <a:xfrm>
            <a:off x="6413500" y="3403600"/>
            <a:ext cx="381000" cy="381000"/>
          </a:xfrm>
          <a:prstGeom prst="ellipse">
            <a:avLst/>
          </a:prstGeom>
          <a:solidFill>
            <a:srgbClr val="FF5D01"/>
          </a:solidFill>
          <a:ln>
            <a:noFill/>
          </a:ln>
        </p:spPr>
        <p:txBody>
          <a:bodyPr wrap="squar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307" name="item3"/>
          <p:cNvSpPr txBox="1"/>
          <p:nvPr/>
        </p:nvSpPr>
        <p:spPr>
          <a:xfrm>
            <a:off x="6946900" y="3365500"/>
            <a:ext cx="4673600" cy="149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s-ES" sz="1700" b="1" dirty="0">
                <a:solidFill>
                  <a:srgbClr val="0F172A"/>
                </a:solidFill>
                <a:latin typeface="Poppins"/>
                <a:ea typeface="Poppins"/>
              </a:rPr>
              <a:t>Objetivo inicial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s-ES" sz="1400" dirty="0">
                <a:solidFill>
                  <a:srgbClr val="475569"/>
                </a:solidFill>
                <a:latin typeface="Inter"/>
                <a:ea typeface="Inter"/>
              </a:rPr>
              <a:t>Reducir la cantidad excesiva de JavaScript enviada al navegador.</a:t>
            </a:r>
          </a:p>
        </p:txBody>
      </p:sp>
      <p:sp>
        <p:nvSpPr>
          <p:cNvPr id="308" name="circle4"/>
          <p:cNvSpPr/>
          <p:nvPr/>
        </p:nvSpPr>
        <p:spPr>
          <a:xfrm>
            <a:off x="571500" y="5029200"/>
            <a:ext cx="381000" cy="381000"/>
          </a:xfrm>
          <a:prstGeom prst="ellipse">
            <a:avLst/>
          </a:prstGeom>
          <a:solidFill>
            <a:srgbClr val="FF5D01"/>
          </a:solidFill>
          <a:ln>
            <a:noFill/>
          </a:ln>
        </p:spPr>
        <p:txBody>
          <a:bodyPr wrap="squar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309" name="item4"/>
          <p:cNvSpPr txBox="1"/>
          <p:nvPr/>
        </p:nvSpPr>
        <p:spPr>
          <a:xfrm>
            <a:off x="1104900" y="4991100"/>
            <a:ext cx="4673600" cy="149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s-ES" sz="1700" b="1" dirty="0">
                <a:solidFill>
                  <a:srgbClr val="0F172A"/>
                </a:solidFill>
                <a:latin typeface="Poppins"/>
                <a:ea typeface="Poppins"/>
              </a:rPr>
              <a:t>Filosofía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s-ES" sz="1400" dirty="0">
                <a:solidFill>
                  <a:srgbClr val="475569"/>
                </a:solidFill>
                <a:latin typeface="Inter"/>
                <a:ea typeface="Inter"/>
              </a:rPr>
              <a:t>Enfoque “HTML-first”: HTML como base, JavaScript solo cuando se necesita.</a:t>
            </a:r>
          </a:p>
        </p:txBody>
      </p:sp>
      <p:sp>
        <p:nvSpPr>
          <p:cNvPr id="310" name="circle5"/>
          <p:cNvSpPr/>
          <p:nvPr/>
        </p:nvSpPr>
        <p:spPr>
          <a:xfrm>
            <a:off x="6413500" y="5029200"/>
            <a:ext cx="381000" cy="381000"/>
          </a:xfrm>
          <a:prstGeom prst="ellipse">
            <a:avLst/>
          </a:prstGeom>
          <a:solidFill>
            <a:srgbClr val="FF5D01"/>
          </a:solidFill>
          <a:ln>
            <a:noFill/>
          </a:ln>
        </p:spPr>
        <p:txBody>
          <a:bodyPr wrap="squar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311" name="item5"/>
          <p:cNvSpPr txBox="1"/>
          <p:nvPr/>
        </p:nvSpPr>
        <p:spPr>
          <a:xfrm>
            <a:off x="6946900" y="4991100"/>
            <a:ext cx="4673600" cy="149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s-ES" sz="1700" b="1" dirty="0">
                <a:solidFill>
                  <a:srgbClr val="0F172A"/>
                </a:solidFill>
                <a:latin typeface="Poppins"/>
                <a:ea typeface="Poppins"/>
              </a:rPr>
              <a:t>Expansión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s-ES" sz="1400" dirty="0">
                <a:solidFill>
                  <a:srgbClr val="475569"/>
                </a:solidFill>
                <a:latin typeface="Inter"/>
                <a:ea typeface="Inter"/>
              </a:rPr>
              <a:t>Incorpora renderizado en servidor (SSR), endpoints y funciones para apps dinámicas.</a:t>
            </a:r>
          </a:p>
        </p:txBody>
      </p:sp>
    </p:spTree>
    <p:extLst>
      <p:ext uri="{BB962C8B-B14F-4D97-AF65-F5344CB8AC3E}">
        <p14:creationId xmlns:p14="http://schemas.microsoft.com/office/powerpoint/2010/main" val="1822591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571500" y="629163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1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Características Principales</a:t>
            </a:r>
          </a:p>
        </p:txBody>
      </p:sp>
      <p:sp>
        <p:nvSpPr>
          <p:cNvPr id="169" name="Google Shape;169;p18"/>
          <p:cNvSpPr/>
          <p:nvPr/>
        </p:nvSpPr>
        <p:spPr>
          <a:xfrm>
            <a:off x="571500" y="1171575"/>
            <a:ext cx="5676900" cy="1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87;p13" descr="image.png">
            <a:extLst>
              <a:ext uri="{FF2B5EF4-FFF2-40B4-BE49-F238E27FC236}">
                <a16:creationId xmlns:a16="http://schemas.microsoft.com/office/drawing/2014/main" id="{507E3BB5-FFCD-E2EB-42B2-1C3C47C25DB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257" t="8720" r="71036" b="7760"/>
          <a:stretch>
            <a:fillRect/>
          </a:stretch>
        </p:blipFill>
        <p:spPr>
          <a:xfrm>
            <a:off x="11309603" y="473773"/>
            <a:ext cx="621793" cy="795528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card0"/>
          <p:cNvSpPr/>
          <p:nvPr/>
        </p:nvSpPr>
        <p:spPr>
          <a:xfrm>
            <a:off x="571500" y="1778000"/>
            <a:ext cx="26035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1" name="text0"/>
          <p:cNvSpPr txBox="1"/>
          <p:nvPr/>
        </p:nvSpPr>
        <p:spPr>
          <a:xfrm>
            <a:off x="762000" y="2413000"/>
            <a:ext cx="22225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s-ES" sz="1500" b="1" dirty="0">
                <a:solidFill>
                  <a:srgbClr val="0F172A"/>
                </a:solidFill>
                <a:latin typeface="Poppins"/>
                <a:ea typeface="Poppins"/>
              </a:rPr>
              <a:t>Arquitectura de islas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s-ES" sz="1400" dirty="0">
                <a:solidFill>
                  <a:srgbClr val="475569"/>
                </a:solidFill>
                <a:latin typeface="Inter"/>
                <a:ea typeface="Inter"/>
              </a:rPr>
              <a:t>Cada componente interactivo se hidrata de forma independiente.</a:t>
            </a:r>
          </a:p>
        </p:txBody>
      </p:sp>
      <p:sp>
        <p:nvSpPr>
          <p:cNvPr id="402" name="card1"/>
          <p:cNvSpPr/>
          <p:nvPr/>
        </p:nvSpPr>
        <p:spPr>
          <a:xfrm>
            <a:off x="3365500" y="1778000"/>
            <a:ext cx="26035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3" name="text1"/>
          <p:cNvSpPr txBox="1"/>
          <p:nvPr/>
        </p:nvSpPr>
        <p:spPr>
          <a:xfrm>
            <a:off x="3556000" y="2413000"/>
            <a:ext cx="22225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s-ES" sz="1500" b="1" dirty="0">
                <a:solidFill>
                  <a:srgbClr val="0F172A"/>
                </a:solidFill>
                <a:latin typeface="Poppins"/>
                <a:ea typeface="Poppins"/>
              </a:rPr>
              <a:t>Cero JS por defecto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s-ES" sz="1400" dirty="0">
                <a:solidFill>
                  <a:srgbClr val="475569"/>
                </a:solidFill>
                <a:latin typeface="Inter"/>
                <a:ea typeface="Inter"/>
              </a:rPr>
              <a:t>El resto de la página se envía como HTML estático.</a:t>
            </a:r>
          </a:p>
        </p:txBody>
      </p:sp>
      <p:sp>
        <p:nvSpPr>
          <p:cNvPr id="404" name="card2"/>
          <p:cNvSpPr/>
          <p:nvPr/>
        </p:nvSpPr>
        <p:spPr>
          <a:xfrm>
            <a:off x="6159500" y="1778000"/>
            <a:ext cx="26035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5" name="text2"/>
          <p:cNvSpPr txBox="1"/>
          <p:nvPr/>
        </p:nvSpPr>
        <p:spPr>
          <a:xfrm>
            <a:off x="6350000" y="2413000"/>
            <a:ext cx="22225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s-ES" sz="1500" b="1" dirty="0">
                <a:solidFill>
                  <a:srgbClr val="0F172A"/>
                </a:solidFill>
                <a:latin typeface="Poppins"/>
                <a:ea typeface="Poppins"/>
              </a:rPr>
              <a:t>Multi-framework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s-ES" sz="1400" dirty="0">
                <a:solidFill>
                  <a:srgbClr val="475569"/>
                </a:solidFill>
                <a:latin typeface="Inter"/>
                <a:ea typeface="Inter"/>
              </a:rPr>
              <a:t>Compatible con React, Vue, Svelte y otros frameworks.</a:t>
            </a:r>
          </a:p>
        </p:txBody>
      </p:sp>
      <p:sp>
        <p:nvSpPr>
          <p:cNvPr id="406" name="card3"/>
          <p:cNvSpPr/>
          <p:nvPr/>
        </p:nvSpPr>
        <p:spPr>
          <a:xfrm>
            <a:off x="8953500" y="1778000"/>
            <a:ext cx="26035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7" name="text3"/>
          <p:cNvSpPr txBox="1"/>
          <p:nvPr/>
        </p:nvSpPr>
        <p:spPr>
          <a:xfrm>
            <a:off x="9144000" y="2413000"/>
            <a:ext cx="22225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s-ES" sz="1500" b="1" dirty="0">
                <a:solidFill>
                  <a:srgbClr val="0F172A"/>
                </a:solidFill>
                <a:latin typeface="Poppins"/>
                <a:ea typeface="Poppins"/>
              </a:rPr>
              <a:t>SSR y SSG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s-ES" sz="1400" dirty="0">
                <a:solidFill>
                  <a:srgbClr val="475569"/>
                </a:solidFill>
                <a:latin typeface="Inter"/>
                <a:ea typeface="Inter"/>
              </a:rPr>
              <a:t>Genera sitios estáticos o renderiza en el servidor.</a:t>
            </a:r>
          </a:p>
        </p:txBody>
      </p:sp>
      <p:sp>
        <p:nvSpPr>
          <p:cNvPr id="408" name="card4"/>
          <p:cNvSpPr/>
          <p:nvPr/>
        </p:nvSpPr>
        <p:spPr>
          <a:xfrm>
            <a:off x="571500" y="3937000"/>
            <a:ext cx="26035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9" name="text4"/>
          <p:cNvSpPr txBox="1"/>
          <p:nvPr/>
        </p:nvSpPr>
        <p:spPr>
          <a:xfrm>
            <a:off x="762000" y="4572000"/>
            <a:ext cx="22225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s-ES" sz="1500" b="1" dirty="0">
                <a:solidFill>
                  <a:srgbClr val="0F172A"/>
                </a:solidFill>
                <a:latin typeface="Poppins"/>
                <a:ea typeface="Poppins"/>
              </a:rPr>
              <a:t>Rutas por archivo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s-ES" sz="1400" dirty="0">
                <a:solidFill>
                  <a:srgbClr val="475569"/>
                </a:solidFill>
                <a:latin typeface="Inter"/>
                <a:ea typeface="Inter"/>
              </a:rPr>
              <a:t>El enrutamiento se define por la estructura de carpetas.</a:t>
            </a:r>
          </a:p>
        </p:txBody>
      </p:sp>
      <p:sp>
        <p:nvSpPr>
          <p:cNvPr id="410" name="card5"/>
          <p:cNvSpPr/>
          <p:nvPr/>
        </p:nvSpPr>
        <p:spPr>
          <a:xfrm>
            <a:off x="3365500" y="3937000"/>
            <a:ext cx="26035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1" name="text5"/>
          <p:cNvSpPr txBox="1"/>
          <p:nvPr/>
        </p:nvSpPr>
        <p:spPr>
          <a:xfrm>
            <a:off x="3556000" y="4572000"/>
            <a:ext cx="22225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s-ES" sz="1500" b="1" dirty="0">
                <a:solidFill>
                  <a:srgbClr val="0F172A"/>
                </a:solidFill>
                <a:latin typeface="Poppins"/>
                <a:ea typeface="Poppins"/>
              </a:rPr>
              <a:t>Consumo de APIs REST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s-ES" sz="1400" dirty="0">
                <a:solidFill>
                  <a:srgbClr val="475569"/>
                </a:solidFill>
                <a:latin typeface="Inter"/>
                <a:ea typeface="Inter"/>
              </a:rPr>
              <a:t>Usa fetch para conectarse con servicios web externos.</a:t>
            </a:r>
          </a:p>
        </p:txBody>
      </p:sp>
      <p:sp>
        <p:nvSpPr>
          <p:cNvPr id="412" name="card6"/>
          <p:cNvSpPr/>
          <p:nvPr/>
        </p:nvSpPr>
        <p:spPr>
          <a:xfrm>
            <a:off x="6159500" y="3937000"/>
            <a:ext cx="26035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3" name="text6"/>
          <p:cNvSpPr txBox="1"/>
          <p:nvPr/>
        </p:nvSpPr>
        <p:spPr>
          <a:xfrm>
            <a:off x="6350000" y="4572000"/>
            <a:ext cx="22225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s-ES" sz="1500" b="1" dirty="0">
                <a:solidFill>
                  <a:srgbClr val="0F172A"/>
                </a:solidFill>
                <a:latin typeface="Poppins"/>
                <a:ea typeface="Poppins"/>
              </a:rPr>
              <a:t>Cualquier lenguaje backend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s-ES" sz="1400" dirty="0">
                <a:solidFill>
                  <a:srgbClr val="475569"/>
                </a:solidFill>
                <a:latin typeface="Inter"/>
                <a:ea typeface="Inter"/>
              </a:rPr>
              <a:t>Se integra con servicios en PHP, Python, Java, JS y más.</a:t>
            </a:r>
          </a:p>
        </p:txBody>
      </p:sp>
      <p:sp>
        <p:nvSpPr>
          <p:cNvPr id="414" name="card7"/>
          <p:cNvSpPr/>
          <p:nvPr/>
        </p:nvSpPr>
        <p:spPr>
          <a:xfrm>
            <a:off x="8953500" y="3937000"/>
            <a:ext cx="26035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5" name="text7"/>
          <p:cNvSpPr txBox="1"/>
          <p:nvPr/>
        </p:nvSpPr>
        <p:spPr>
          <a:xfrm>
            <a:off x="9144000" y="4572000"/>
            <a:ext cx="22225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s-ES" sz="1500" b="1" dirty="0">
                <a:solidFill>
                  <a:srgbClr val="0F172A"/>
                </a:solidFill>
                <a:latin typeface="Poppins"/>
                <a:ea typeface="Poppins"/>
              </a:rPr>
              <a:t>Separación de capas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s-ES" sz="1400" dirty="0">
                <a:solidFill>
                  <a:srgbClr val="475569"/>
                </a:solidFill>
                <a:latin typeface="Inter"/>
                <a:ea typeface="Inter"/>
              </a:rPr>
              <a:t>Interfaz, API y base de datos permanecen independientes.</a:t>
            </a:r>
          </a:p>
        </p:txBody>
      </p:sp>
      <p:pic>
        <p:nvPicPr>
          <p:cNvPr id="416" name="Graphic 416" descr="Arquitectura de isla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1968500"/>
            <a:ext cx="355600" cy="355600"/>
          </a:xfrm>
          <a:prstGeom prst="rect">
            <a:avLst/>
          </a:prstGeom>
        </p:spPr>
      </p:pic>
      <p:pic>
        <p:nvPicPr>
          <p:cNvPr id="417" name="Graphic 417" descr="Cero JS por defect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56000" y="1968500"/>
            <a:ext cx="355600" cy="355600"/>
          </a:xfrm>
          <a:prstGeom prst="rect">
            <a:avLst/>
          </a:prstGeom>
        </p:spPr>
      </p:pic>
      <p:pic>
        <p:nvPicPr>
          <p:cNvPr id="418" name="Graphic 418" descr="Multi-framewo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50000" y="1968500"/>
            <a:ext cx="355600" cy="355600"/>
          </a:xfrm>
          <a:prstGeom prst="rect">
            <a:avLst/>
          </a:prstGeom>
        </p:spPr>
      </p:pic>
      <p:pic>
        <p:nvPicPr>
          <p:cNvPr id="419" name="Graphic 419" descr="SSR y SS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0" y="1968500"/>
            <a:ext cx="355600" cy="355600"/>
          </a:xfrm>
          <a:prstGeom prst="rect">
            <a:avLst/>
          </a:prstGeom>
        </p:spPr>
      </p:pic>
      <p:pic>
        <p:nvPicPr>
          <p:cNvPr id="420" name="Graphic 420" descr="Rutas por archiv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2000" y="4127500"/>
            <a:ext cx="355600" cy="355600"/>
          </a:xfrm>
          <a:prstGeom prst="rect">
            <a:avLst/>
          </a:prstGeom>
        </p:spPr>
      </p:pic>
      <p:pic>
        <p:nvPicPr>
          <p:cNvPr id="421" name="Graphic 421" descr="Consumo de APIs RES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56000" y="4127500"/>
            <a:ext cx="355600" cy="355600"/>
          </a:xfrm>
          <a:prstGeom prst="rect">
            <a:avLst/>
          </a:prstGeom>
        </p:spPr>
      </p:pic>
      <p:pic>
        <p:nvPicPr>
          <p:cNvPr id="422" name="Graphic 422" descr="Cualquier lenguaje backen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0" y="4127500"/>
            <a:ext cx="355600" cy="355600"/>
          </a:xfrm>
          <a:prstGeom prst="rect">
            <a:avLst/>
          </a:prstGeom>
        </p:spPr>
      </p:pic>
      <p:pic>
        <p:nvPicPr>
          <p:cNvPr id="423" name="Graphic 423" descr="Separación de capa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44000" y="41275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548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571500" y="656094"/>
            <a:ext cx="116014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buNone/>
            </a:pPr>
            <a:r>
              <a:rPr lang="es-ES" sz="2800" b="1" dirty="0">
                <a:solidFill>
                  <a:srgbClr val="0F172A"/>
                </a:solidFill>
                <a:latin typeface="Poppins"/>
                <a:ea typeface="Poppins"/>
              </a:rPr>
              <a:t>Astro en la Arquitectura Cliente-Servidor</a:t>
            </a:r>
          </a:p>
        </p:txBody>
      </p:sp>
      <p:sp>
        <p:nvSpPr>
          <p:cNvPr id="150" name="Google Shape;150;p17"/>
          <p:cNvSpPr/>
          <p:nvPr/>
        </p:nvSpPr>
        <p:spPr>
          <a:xfrm>
            <a:off x="571500" y="1171575"/>
            <a:ext cx="6543675" cy="1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87;p13" descr="image.png">
            <a:extLst>
              <a:ext uri="{FF2B5EF4-FFF2-40B4-BE49-F238E27FC236}">
                <a16:creationId xmlns:a16="http://schemas.microsoft.com/office/drawing/2014/main" id="{D673B262-5FB6-733D-433C-9A3113035D2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257" t="8720" r="71036" b="7760"/>
          <a:stretch>
            <a:fillRect/>
          </a:stretch>
        </p:blipFill>
        <p:spPr>
          <a:xfrm>
            <a:off x="11309603" y="473773"/>
            <a:ext cx="621793" cy="795528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box500"/>
          <p:cNvSpPr/>
          <p:nvPr/>
        </p:nvSpPr>
        <p:spPr>
          <a:xfrm>
            <a:off x="762000" y="1841500"/>
            <a:ext cx="5207000" cy="5715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txBody>
          <a:bodyPr wrap="squar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s-ES" sz="1700" b="1" dirty="0">
                <a:solidFill>
                  <a:srgbClr val="0F172A"/>
                </a:solidFill>
                <a:latin typeface="Poppins"/>
              </a:rPr>
              <a:t>Usuario</a:t>
            </a:r>
          </a:p>
        </p:txBody>
      </p:sp>
      <p:sp>
        <p:nvSpPr>
          <p:cNvPr id="501" name="arrow501"/>
          <p:cNvSpPr/>
          <p:nvPr/>
        </p:nvSpPr>
        <p:spPr>
          <a:xfrm>
            <a:off x="3238500" y="2438400"/>
            <a:ext cx="228600" cy="2032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" name="box502"/>
          <p:cNvSpPr/>
          <p:nvPr/>
        </p:nvSpPr>
        <p:spPr>
          <a:xfrm>
            <a:off x="762000" y="2667000"/>
            <a:ext cx="5207000" cy="571500"/>
          </a:xfrm>
          <a:prstGeom prst="roundRect">
            <a:avLst>
              <a:gd name="adj" fmla="val 8000"/>
            </a:avLst>
          </a:prstGeom>
          <a:solidFill>
            <a:srgbClr val="FF5D01"/>
          </a:solidFill>
          <a:ln>
            <a:noFill/>
          </a:ln>
        </p:spPr>
        <p:txBody>
          <a:bodyPr wrap="squar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s-ES" sz="1700" b="1" dirty="0">
                <a:solidFill>
                  <a:srgbClr val="FFFFFF"/>
                </a:solidFill>
                <a:latin typeface="Poppins"/>
              </a:rPr>
              <a:t>Aplicación Astro</a:t>
            </a:r>
          </a:p>
        </p:txBody>
      </p:sp>
      <p:sp>
        <p:nvSpPr>
          <p:cNvPr id="503" name="arrow503"/>
          <p:cNvSpPr/>
          <p:nvPr/>
        </p:nvSpPr>
        <p:spPr>
          <a:xfrm>
            <a:off x="3238500" y="3263900"/>
            <a:ext cx="228600" cy="2032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" name="lbl504"/>
          <p:cNvSpPr txBox="1"/>
          <p:nvPr/>
        </p:nvSpPr>
        <p:spPr>
          <a:xfrm>
            <a:off x="3683000" y="3263900"/>
            <a:ext cx="215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</a:pPr>
            <a:r>
              <a:rPr lang="es-ES" sz="1400" i="1" dirty="0">
                <a:solidFill>
                  <a:srgbClr val="475569"/>
                </a:solidFill>
                <a:latin typeface="Inter"/>
              </a:rPr>
              <a:t>Solicitudes HTTP</a:t>
            </a:r>
          </a:p>
        </p:txBody>
      </p:sp>
      <p:sp>
        <p:nvSpPr>
          <p:cNvPr id="505" name="box505"/>
          <p:cNvSpPr/>
          <p:nvPr/>
        </p:nvSpPr>
        <p:spPr>
          <a:xfrm>
            <a:off x="762000" y="3492500"/>
            <a:ext cx="5207000" cy="5715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txBody>
          <a:bodyPr wrap="squar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s-ES" sz="1700" b="1" dirty="0">
                <a:solidFill>
                  <a:srgbClr val="FFFFFF"/>
                </a:solidFill>
                <a:latin typeface="Poppins"/>
              </a:rPr>
              <a:t>API REST externa</a:t>
            </a:r>
          </a:p>
        </p:txBody>
      </p:sp>
      <p:sp>
        <p:nvSpPr>
          <p:cNvPr id="506" name="arrow506"/>
          <p:cNvSpPr/>
          <p:nvPr/>
        </p:nvSpPr>
        <p:spPr>
          <a:xfrm>
            <a:off x="3238500" y="4089400"/>
            <a:ext cx="228600" cy="2032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7" name="lbl507"/>
          <p:cNvSpPr txBox="1"/>
          <p:nvPr/>
        </p:nvSpPr>
        <p:spPr>
          <a:xfrm>
            <a:off x="3683000" y="4089400"/>
            <a:ext cx="215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</a:pPr>
            <a:r>
              <a:rPr lang="es-ES" sz="1400" i="1" dirty="0">
                <a:solidFill>
                  <a:srgbClr val="475569"/>
                </a:solidFill>
                <a:latin typeface="Inter"/>
              </a:rPr>
              <a:t>ORM o driver</a:t>
            </a:r>
          </a:p>
        </p:txBody>
      </p:sp>
      <p:sp>
        <p:nvSpPr>
          <p:cNvPr id="508" name="box508"/>
          <p:cNvSpPr/>
          <p:nvPr/>
        </p:nvSpPr>
        <p:spPr>
          <a:xfrm>
            <a:off x="762000" y="4318000"/>
            <a:ext cx="5207000" cy="5715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txBody>
          <a:bodyPr wrap="squar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s-ES" sz="1700" b="1" dirty="0">
                <a:solidFill>
                  <a:srgbClr val="FFFFFF"/>
                </a:solidFill>
                <a:latin typeface="Poppins"/>
              </a:rPr>
              <a:t>Base de datos</a:t>
            </a:r>
          </a:p>
        </p:txBody>
      </p:sp>
      <p:sp>
        <p:nvSpPr>
          <p:cNvPr id="509" name="lbl509"/>
          <p:cNvSpPr txBox="1"/>
          <p:nvPr/>
        </p:nvSpPr>
        <p:spPr>
          <a:xfrm>
            <a:off x="6350000" y="1841500"/>
            <a:ext cx="5270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</a:pPr>
            <a:r>
              <a:rPr lang="es-ES" sz="1500" b="1" dirty="0">
                <a:solidFill>
                  <a:srgbClr val="0F172A"/>
                </a:solidFill>
                <a:latin typeface="Inter"/>
              </a:rPr>
              <a:t>La API puede estar creada con:</a:t>
            </a:r>
          </a:p>
        </p:txBody>
      </p:sp>
      <p:sp>
        <p:nvSpPr>
          <p:cNvPr id="510" name="badge510"/>
          <p:cNvSpPr/>
          <p:nvPr/>
        </p:nvSpPr>
        <p:spPr>
          <a:xfrm>
            <a:off x="6350000" y="2184400"/>
            <a:ext cx="2540000" cy="3810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txBody>
          <a:bodyPr wrap="squar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s-ES" sz="1400" b="1" dirty="0">
                <a:solidFill>
                  <a:srgbClr val="0F172A"/>
                </a:solidFill>
                <a:latin typeface="Inter SemiBold"/>
              </a:rPr>
              <a:t>PHP · Laravel</a:t>
            </a:r>
          </a:p>
        </p:txBody>
      </p:sp>
      <p:sp>
        <p:nvSpPr>
          <p:cNvPr id="511" name="badge511"/>
          <p:cNvSpPr/>
          <p:nvPr/>
        </p:nvSpPr>
        <p:spPr>
          <a:xfrm>
            <a:off x="9080500" y="2184400"/>
            <a:ext cx="2540000" cy="3810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txBody>
          <a:bodyPr wrap="squar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s-ES" sz="1400" b="1" dirty="0">
                <a:solidFill>
                  <a:srgbClr val="0F172A"/>
                </a:solidFill>
                <a:latin typeface="Inter SemiBold"/>
              </a:rPr>
              <a:t>Python · Django</a:t>
            </a:r>
          </a:p>
        </p:txBody>
      </p:sp>
      <p:sp>
        <p:nvSpPr>
          <p:cNvPr id="512" name="badge512"/>
          <p:cNvSpPr/>
          <p:nvPr/>
        </p:nvSpPr>
        <p:spPr>
          <a:xfrm>
            <a:off x="6350000" y="2616200"/>
            <a:ext cx="2540000" cy="3810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txBody>
          <a:bodyPr wrap="squar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s-ES" sz="1400" b="1" dirty="0">
                <a:solidFill>
                  <a:srgbClr val="0F172A"/>
                </a:solidFill>
                <a:latin typeface="Inter SemiBold"/>
              </a:rPr>
              <a:t>Java · Spring Boot</a:t>
            </a:r>
          </a:p>
        </p:txBody>
      </p:sp>
      <p:sp>
        <p:nvSpPr>
          <p:cNvPr id="513" name="badge513"/>
          <p:cNvSpPr/>
          <p:nvPr/>
        </p:nvSpPr>
        <p:spPr>
          <a:xfrm>
            <a:off x="9080500" y="2616200"/>
            <a:ext cx="2540000" cy="3810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txBody>
          <a:bodyPr wrap="squar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s-ES" sz="1400" b="1" dirty="0">
                <a:solidFill>
                  <a:srgbClr val="0F172A"/>
                </a:solidFill>
                <a:latin typeface="Inter SemiBold"/>
              </a:rPr>
              <a:t>JavaScript · Express / NestJS</a:t>
            </a:r>
          </a:p>
        </p:txBody>
      </p:sp>
      <p:sp>
        <p:nvSpPr>
          <p:cNvPr id="514" name="lbl514"/>
          <p:cNvSpPr txBox="1"/>
          <p:nvPr/>
        </p:nvSpPr>
        <p:spPr>
          <a:xfrm>
            <a:off x="6350000" y="3098800"/>
            <a:ext cx="52705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</a:pPr>
            <a:r>
              <a:rPr lang="es-ES" sz="1400" i="1" dirty="0">
                <a:solidFill>
                  <a:srgbClr val="475569"/>
                </a:solidFill>
                <a:latin typeface="Inter"/>
              </a:rPr>
              <a:t>...y cualquier otra tecnología capaz de ofrecer servicios REST.</a:t>
            </a:r>
          </a:p>
        </p:txBody>
      </p:sp>
      <p:sp>
        <p:nvSpPr>
          <p:cNvPr id="515" name="lbl515"/>
          <p:cNvSpPr txBox="1"/>
          <p:nvPr/>
        </p:nvSpPr>
        <p:spPr>
          <a:xfrm>
            <a:off x="6350000" y="3657600"/>
            <a:ext cx="5270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</a:pPr>
            <a:r>
              <a:rPr lang="es-ES" sz="1500" b="1" dirty="0">
                <a:solidFill>
                  <a:srgbClr val="0F172A"/>
                </a:solidFill>
                <a:latin typeface="Inter"/>
              </a:rPr>
              <a:t>Astro se comunica con la API mediante:</a:t>
            </a:r>
          </a:p>
        </p:txBody>
      </p:sp>
      <p:sp>
        <p:nvSpPr>
          <p:cNvPr id="516" name="method516"/>
          <p:cNvSpPr/>
          <p:nvPr/>
        </p:nvSpPr>
        <p:spPr>
          <a:xfrm>
            <a:off x="6350000" y="3962400"/>
            <a:ext cx="1143000" cy="33020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</p:spPr>
        <p:txBody>
          <a:bodyPr wrap="squar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  <a:latin typeface="Inter SemiBold"/>
              </a:rPr>
              <a:t>GET</a:t>
            </a:r>
          </a:p>
        </p:txBody>
      </p:sp>
      <p:sp>
        <p:nvSpPr>
          <p:cNvPr id="517" name="method517"/>
          <p:cNvSpPr/>
          <p:nvPr/>
        </p:nvSpPr>
        <p:spPr>
          <a:xfrm>
            <a:off x="7620000" y="3962400"/>
            <a:ext cx="1143000" cy="330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wrap="squar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  <a:latin typeface="Inter SemiBold"/>
              </a:rPr>
              <a:t>POST</a:t>
            </a:r>
          </a:p>
        </p:txBody>
      </p:sp>
      <p:sp>
        <p:nvSpPr>
          <p:cNvPr id="518" name="method518"/>
          <p:cNvSpPr/>
          <p:nvPr/>
        </p:nvSpPr>
        <p:spPr>
          <a:xfrm>
            <a:off x="8890000" y="3962400"/>
            <a:ext cx="1143000" cy="330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</p:spPr>
        <p:txBody>
          <a:bodyPr wrap="squar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  <a:latin typeface="Inter SemiBold"/>
              </a:rPr>
              <a:t>PUT</a:t>
            </a:r>
          </a:p>
        </p:txBody>
      </p:sp>
      <p:sp>
        <p:nvSpPr>
          <p:cNvPr id="519" name="method519"/>
          <p:cNvSpPr/>
          <p:nvPr/>
        </p:nvSpPr>
        <p:spPr>
          <a:xfrm>
            <a:off x="10160000" y="3962400"/>
            <a:ext cx="1143000" cy="330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txBody>
          <a:bodyPr wrap="squar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  <a:latin typeface="Inter SemiBold"/>
              </a:rPr>
              <a:t>DELETE</a:t>
            </a:r>
          </a:p>
        </p:txBody>
      </p:sp>
      <p:sp>
        <p:nvSpPr>
          <p:cNvPr id="520" name="banner"/>
          <p:cNvSpPr/>
          <p:nvPr/>
        </p:nvSpPr>
        <p:spPr>
          <a:xfrm>
            <a:off x="571500" y="5207000"/>
            <a:ext cx="11049000" cy="762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0">
            <a:noFill/>
          </a:ln>
        </p:spPr>
        <p:txBody>
          <a:bodyPr wrap="square" lIns="180000" tIns="45700" rIns="180000" bIns="45700" anchor="ctr">
            <a:noAutofit/>
          </a:bodyPr>
          <a:lstStyle/>
          <a:p>
            <a:pPr algn="ctr">
              <a:buNone/>
            </a:pPr>
            <a:r>
              <a:rPr lang="es-ES" sz="1600" b="1" i="1" dirty="0">
                <a:solidFill>
                  <a:srgbClr val="0F172A"/>
                </a:solidFill>
                <a:latin typeface="Poppins"/>
              </a:rPr>
              <a:t>“Los servicios web son independientes de la plataforma o tecnología desde la cual se consumen.”</a:t>
            </a:r>
          </a:p>
        </p:txBody>
      </p:sp>
      <p:sp>
        <p:nvSpPr>
          <p:cNvPr id="521" name="bannerbar"/>
          <p:cNvSpPr/>
          <p:nvPr/>
        </p:nvSpPr>
        <p:spPr>
          <a:xfrm>
            <a:off x="571500" y="5207000"/>
            <a:ext cx="76200" cy="762000"/>
          </a:xfrm>
          <a:prstGeom prst="rect">
            <a:avLst/>
          </a:prstGeom>
          <a:solidFill>
            <a:srgbClr val="FF5D01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53665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" y="-7239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571500" y="629163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buNone/>
            </a:pPr>
            <a:r>
              <a:rPr lang="es-ES" sz="3150" b="1" dirty="0">
                <a:solidFill>
                  <a:srgbClr val="0F172A"/>
                </a:solidFill>
                <a:latin typeface="Poppins"/>
                <a:ea typeface="Poppins"/>
              </a:rPr>
              <a:t>Estructura Generada por el CLI</a:t>
            </a:r>
          </a:p>
        </p:txBody>
      </p:sp>
      <p:sp>
        <p:nvSpPr>
          <p:cNvPr id="206" name="Google Shape;206;p21"/>
          <p:cNvSpPr/>
          <p:nvPr/>
        </p:nvSpPr>
        <p:spPr>
          <a:xfrm>
            <a:off x="571500" y="1171575"/>
            <a:ext cx="6076950" cy="1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87;p13" descr="image.png">
            <a:extLst>
              <a:ext uri="{FF2B5EF4-FFF2-40B4-BE49-F238E27FC236}">
                <a16:creationId xmlns:a16="http://schemas.microsoft.com/office/drawing/2014/main" id="{AFAE7C40-72CF-41D7-5FD7-E0C92E29515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257" t="8720" r="71036" b="7760"/>
          <a:stretch>
            <a:fillRect/>
          </a:stretch>
        </p:blipFill>
        <p:spPr>
          <a:xfrm>
            <a:off x="11309603" y="473773"/>
            <a:ext cx="621793" cy="795528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codebox"/>
          <p:cNvSpPr/>
          <p:nvPr/>
        </p:nvSpPr>
        <p:spPr>
          <a:xfrm>
            <a:off x="571500" y="1841500"/>
            <a:ext cx="4953000" cy="40005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txBody>
          <a:bodyPr wrap="square" lIns="180000" tIns="180000" rIns="120000" bIns="120000" anchor="t">
            <a:noAutofit/>
          </a:bodyPr>
          <a:lstStyle/>
          <a:p>
            <a:pPr>
              <a:lnSpc>
                <a:spcPct val="145000"/>
              </a:lnSpc>
              <a:buNone/>
            </a:pPr>
            <a:r>
              <a:rPr lang="es-ES" sz="1400" b="1" dirty="0">
                <a:solidFill>
                  <a:srgbClr val="FF5D01"/>
                </a:solidFill>
                <a:latin typeface="Courier New"/>
              </a:rPr>
              <a:t>proyecto-astro/</a:t>
            </a:r>
          </a:p>
          <a:p>
            <a:pPr>
              <a:lnSpc>
                <a:spcPct val="145000"/>
              </a:lnSpc>
              <a:buNone/>
            </a:pPr>
            <a:r>
              <a:rPr lang="es-ES" sz="1400" dirty="0">
                <a:solidFill>
                  <a:srgbClr val="E2E8F0"/>
                </a:solidFill>
                <a:latin typeface="Courier New"/>
              </a:rPr>
              <a:t>├── public/</a:t>
            </a:r>
          </a:p>
          <a:p>
            <a:pPr>
              <a:lnSpc>
                <a:spcPct val="145000"/>
              </a:lnSpc>
              <a:buNone/>
            </a:pPr>
            <a:r>
              <a:rPr lang="es-ES" sz="1400" dirty="0">
                <a:solidFill>
                  <a:srgbClr val="E2E8F0"/>
                </a:solidFill>
                <a:latin typeface="Courier New"/>
              </a:rPr>
              <a:t>├── src/</a:t>
            </a:r>
          </a:p>
          <a:p>
            <a:pPr>
              <a:lnSpc>
                <a:spcPct val="145000"/>
              </a:lnSpc>
              <a:buNone/>
            </a:pPr>
            <a:r>
              <a:rPr lang="es-ES" sz="1400" dirty="0">
                <a:solidFill>
                  <a:srgbClr val="94A3B8"/>
                </a:solidFill>
                <a:latin typeface="Courier New"/>
              </a:rPr>
              <a:t>│   ├── components/</a:t>
            </a:r>
          </a:p>
          <a:p>
            <a:pPr>
              <a:lnSpc>
                <a:spcPct val="145000"/>
              </a:lnSpc>
              <a:buNone/>
            </a:pPr>
            <a:r>
              <a:rPr lang="es-ES" sz="1400" dirty="0">
                <a:solidFill>
                  <a:srgbClr val="94A3B8"/>
                </a:solidFill>
                <a:latin typeface="Courier New"/>
              </a:rPr>
              <a:t>│   ├── layouts/</a:t>
            </a:r>
          </a:p>
          <a:p>
            <a:pPr>
              <a:lnSpc>
                <a:spcPct val="145000"/>
              </a:lnSpc>
              <a:buNone/>
            </a:pPr>
            <a:r>
              <a:rPr lang="es-ES" sz="1400" dirty="0">
                <a:solidFill>
                  <a:srgbClr val="94A3B8"/>
                </a:solidFill>
                <a:latin typeface="Courier New"/>
              </a:rPr>
              <a:t>│   └── pages/</a:t>
            </a:r>
          </a:p>
          <a:p>
            <a:pPr>
              <a:lnSpc>
                <a:spcPct val="145000"/>
              </a:lnSpc>
              <a:buNone/>
            </a:pPr>
            <a:r>
              <a:rPr lang="es-ES" sz="1400" dirty="0">
                <a:solidFill>
                  <a:srgbClr val="E2E8F0"/>
                </a:solidFill>
                <a:latin typeface="Courier New"/>
              </a:rPr>
              <a:t>├── astro.config.mjs</a:t>
            </a:r>
          </a:p>
          <a:p>
            <a:pPr>
              <a:lnSpc>
                <a:spcPct val="145000"/>
              </a:lnSpc>
              <a:buNone/>
            </a:pPr>
            <a:r>
              <a:rPr lang="es-ES" sz="1400" dirty="0">
                <a:solidFill>
                  <a:srgbClr val="E2E8F0"/>
                </a:solidFill>
                <a:latin typeface="Courier New"/>
              </a:rPr>
              <a:t>├── package.json</a:t>
            </a:r>
          </a:p>
          <a:p>
            <a:pPr>
              <a:lnSpc>
                <a:spcPct val="145000"/>
              </a:lnSpc>
              <a:buNone/>
            </a:pPr>
            <a:r>
              <a:rPr lang="es-ES" sz="1400" dirty="0">
                <a:solidFill>
                  <a:srgbClr val="E2E8F0"/>
                </a:solidFill>
                <a:latin typeface="Courier New"/>
              </a:rPr>
              <a:t>└── tsconfig.json</a:t>
            </a:r>
          </a:p>
        </p:txBody>
      </p:sp>
      <p:sp>
        <p:nvSpPr>
          <p:cNvPr id="610" name="item0"/>
          <p:cNvSpPr txBox="1"/>
          <p:nvPr/>
        </p:nvSpPr>
        <p:spPr>
          <a:xfrm>
            <a:off x="5905500" y="1816100"/>
            <a:ext cx="5715000" cy="565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s-ES" sz="1500" b="1" dirty="0">
                <a:solidFill>
                  <a:srgbClr val="FF5D01"/>
                </a:solidFill>
                <a:latin typeface="Courier New"/>
              </a:rPr>
              <a:t>public/</a:t>
            </a:r>
            <a:r>
              <a:rPr lang="es-ES" sz="1400" dirty="0">
                <a:solidFill>
                  <a:srgbClr val="475569"/>
                </a:solidFill>
                <a:latin typeface="Inter"/>
              </a:rPr>
              <a:t> — Contiene imágenes, iconos y archivos estáticos.</a:t>
            </a:r>
          </a:p>
        </p:txBody>
      </p:sp>
      <p:sp>
        <p:nvSpPr>
          <p:cNvPr id="611" name="item1"/>
          <p:cNvSpPr txBox="1"/>
          <p:nvPr/>
        </p:nvSpPr>
        <p:spPr>
          <a:xfrm>
            <a:off x="5905500" y="2381250"/>
            <a:ext cx="5715000" cy="565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s-ES" sz="1500" b="1" dirty="0">
                <a:solidFill>
                  <a:srgbClr val="FF5D01"/>
                </a:solidFill>
                <a:latin typeface="Courier New"/>
              </a:rPr>
              <a:t>src/components/</a:t>
            </a:r>
            <a:r>
              <a:rPr lang="es-ES" sz="1400" dirty="0">
                <a:solidFill>
                  <a:srgbClr val="475569"/>
                </a:solidFill>
                <a:latin typeface="Inter"/>
              </a:rPr>
              <a:t> — Contiene componentes reutilizables.</a:t>
            </a:r>
          </a:p>
        </p:txBody>
      </p:sp>
      <p:sp>
        <p:nvSpPr>
          <p:cNvPr id="612" name="item2"/>
          <p:cNvSpPr txBox="1"/>
          <p:nvPr/>
        </p:nvSpPr>
        <p:spPr>
          <a:xfrm>
            <a:off x="5905500" y="2946400"/>
            <a:ext cx="5715000" cy="565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s-ES" sz="1500" b="1" dirty="0">
                <a:solidFill>
                  <a:srgbClr val="FF5D01"/>
                </a:solidFill>
                <a:latin typeface="Courier New"/>
              </a:rPr>
              <a:t>src/layouts/</a:t>
            </a:r>
            <a:r>
              <a:rPr lang="es-ES" sz="1400" dirty="0">
                <a:solidFill>
                  <a:srgbClr val="475569"/>
                </a:solidFill>
                <a:latin typeface="Inter"/>
              </a:rPr>
              <a:t> — Contiene estructuras comunes de las páginas.</a:t>
            </a:r>
          </a:p>
        </p:txBody>
      </p:sp>
      <p:sp>
        <p:nvSpPr>
          <p:cNvPr id="613" name="item3"/>
          <p:cNvSpPr txBox="1"/>
          <p:nvPr/>
        </p:nvSpPr>
        <p:spPr>
          <a:xfrm>
            <a:off x="5905500" y="3511550"/>
            <a:ext cx="5715000" cy="565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s-ES" sz="1500" b="1" dirty="0">
                <a:solidFill>
                  <a:srgbClr val="FF5D01"/>
                </a:solidFill>
                <a:latin typeface="Courier New"/>
              </a:rPr>
              <a:t>src/pages/</a:t>
            </a:r>
            <a:r>
              <a:rPr lang="es-ES" sz="1400" dirty="0">
                <a:solidFill>
                  <a:srgbClr val="475569"/>
                </a:solidFill>
                <a:latin typeface="Inter"/>
              </a:rPr>
              <a:t> — Contiene las páginas y rutas del proyecto.</a:t>
            </a:r>
          </a:p>
        </p:txBody>
      </p:sp>
      <p:sp>
        <p:nvSpPr>
          <p:cNvPr id="614" name="item4"/>
          <p:cNvSpPr txBox="1"/>
          <p:nvPr/>
        </p:nvSpPr>
        <p:spPr>
          <a:xfrm>
            <a:off x="5905500" y="4076700"/>
            <a:ext cx="5715000" cy="565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s-ES" sz="1500" b="1" dirty="0">
                <a:solidFill>
                  <a:srgbClr val="FF5D01"/>
                </a:solidFill>
                <a:latin typeface="Courier New"/>
              </a:rPr>
              <a:t>astro.config.mjs</a:t>
            </a:r>
            <a:r>
              <a:rPr lang="es-ES" sz="1400" dirty="0">
                <a:solidFill>
                  <a:srgbClr val="475569"/>
                </a:solidFill>
                <a:latin typeface="Inter"/>
              </a:rPr>
              <a:t> — Contiene la configuración principal de Astro.</a:t>
            </a:r>
          </a:p>
        </p:txBody>
      </p:sp>
      <p:sp>
        <p:nvSpPr>
          <p:cNvPr id="615" name="item5"/>
          <p:cNvSpPr txBox="1"/>
          <p:nvPr/>
        </p:nvSpPr>
        <p:spPr>
          <a:xfrm>
            <a:off x="5905500" y="4641850"/>
            <a:ext cx="5715000" cy="565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s-ES" sz="1500" b="1" dirty="0">
                <a:solidFill>
                  <a:srgbClr val="FF5D01"/>
                </a:solidFill>
                <a:latin typeface="Courier New"/>
              </a:rPr>
              <a:t>package.json</a:t>
            </a:r>
            <a:r>
              <a:rPr lang="es-ES" sz="1400" dirty="0">
                <a:solidFill>
                  <a:srgbClr val="475569"/>
                </a:solidFill>
                <a:latin typeface="Inter"/>
              </a:rPr>
              <a:t> — Contiene las dependencias y comandos del proyecto.</a:t>
            </a:r>
          </a:p>
        </p:txBody>
      </p:sp>
      <p:sp>
        <p:nvSpPr>
          <p:cNvPr id="616" name="item6"/>
          <p:cNvSpPr txBox="1"/>
          <p:nvPr/>
        </p:nvSpPr>
        <p:spPr>
          <a:xfrm>
            <a:off x="5905500" y="5207000"/>
            <a:ext cx="5715000" cy="565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s-ES" sz="1500" b="1" dirty="0">
                <a:solidFill>
                  <a:srgbClr val="FF5D01"/>
                </a:solidFill>
                <a:latin typeface="Courier New"/>
              </a:rPr>
              <a:t>tsconfig.json</a:t>
            </a:r>
            <a:r>
              <a:rPr lang="es-ES" sz="1400" dirty="0">
                <a:solidFill>
                  <a:srgbClr val="475569"/>
                </a:solidFill>
                <a:latin typeface="Inter"/>
              </a:rPr>
              <a:t> — Contiene la configuración de TypeScript.</a:t>
            </a:r>
          </a:p>
        </p:txBody>
      </p:sp>
    </p:spTree>
    <p:extLst>
      <p:ext uri="{BB962C8B-B14F-4D97-AF65-F5344CB8AC3E}">
        <p14:creationId xmlns:p14="http://schemas.microsoft.com/office/powerpoint/2010/main" val="930202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222123" y="2613660"/>
            <a:ext cx="116014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buNone/>
            </a:pPr>
            <a:r>
              <a:rPr lang="es-ES" sz="6000" b="1" dirty="0">
                <a:solidFill>
                  <a:srgbClr val="FF5D01"/>
                </a:solidFill>
                <a:latin typeface="Poppins"/>
                <a:cs typeface="Poppins"/>
              </a:rPr>
              <a:t>Demostración Práctica</a:t>
            </a:r>
          </a:p>
        </p:txBody>
      </p:sp>
      <p:sp>
        <p:nvSpPr>
          <p:cNvPr id="177" name="Google Shape;177;p19"/>
          <p:cNvSpPr/>
          <p:nvPr/>
        </p:nvSpPr>
        <p:spPr>
          <a:xfrm>
            <a:off x="5641848" y="3928110"/>
            <a:ext cx="762000" cy="57150"/>
          </a:xfrm>
          <a:prstGeom prst="rect">
            <a:avLst/>
          </a:prstGeom>
          <a:solidFill>
            <a:srgbClr val="FF5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87;p13" descr="image.png">
            <a:extLst>
              <a:ext uri="{FF2B5EF4-FFF2-40B4-BE49-F238E27FC236}">
                <a16:creationId xmlns:a16="http://schemas.microsoft.com/office/drawing/2014/main" id="{CD29AD6B-602C-111D-1039-7AE9B550695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257" t="8720" r="71036" b="7760"/>
          <a:stretch>
            <a:fillRect/>
          </a:stretch>
        </p:blipFill>
        <p:spPr>
          <a:xfrm>
            <a:off x="11201780" y="410103"/>
            <a:ext cx="621793" cy="795528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subtitle"/>
          <p:cNvSpPr txBox="1"/>
          <p:nvPr/>
        </p:nvSpPr>
        <p:spPr>
          <a:xfrm>
            <a:off x="571500" y="4318000"/>
            <a:ext cx="11049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s-ES" sz="2000" dirty="0">
                <a:solidFill>
                  <a:srgbClr val="475569"/>
                </a:solidFill>
                <a:latin typeface="Inter Light"/>
              </a:rPr>
              <a:t>Consumo de una API REST desde Astro</a:t>
            </a:r>
          </a:p>
        </p:txBody>
      </p:sp>
      <p:pic>
        <p:nvPicPr>
          <p:cNvPr id="701" name="Graphic 701" descr="Astr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54500" y="5270500"/>
            <a:ext cx="635000" cy="635000"/>
          </a:xfrm>
          <a:prstGeom prst="rect">
            <a:avLst/>
          </a:prstGeom>
        </p:spPr>
      </p:pic>
      <p:pic>
        <p:nvPicPr>
          <p:cNvPr id="702" name="Graphic 702" descr="flech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80000" y="5435600"/>
            <a:ext cx="355600" cy="304800"/>
          </a:xfrm>
          <a:prstGeom prst="rect">
            <a:avLst/>
          </a:prstGeom>
        </p:spPr>
      </p:pic>
      <p:pic>
        <p:nvPicPr>
          <p:cNvPr id="703" name="Graphic 703" descr="API RES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15000" y="5270500"/>
            <a:ext cx="635000" cy="635000"/>
          </a:xfrm>
          <a:prstGeom prst="rect">
            <a:avLst/>
          </a:prstGeom>
        </p:spPr>
      </p:pic>
      <p:pic>
        <p:nvPicPr>
          <p:cNvPr id="704" name="Graphic 704" descr="flech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0500" y="5435600"/>
            <a:ext cx="355600" cy="304800"/>
          </a:xfrm>
          <a:prstGeom prst="rect">
            <a:avLst/>
          </a:prstGeom>
        </p:spPr>
      </p:pic>
      <p:pic>
        <p:nvPicPr>
          <p:cNvPr id="705" name="Graphic 705" descr="Base de dato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75500" y="5270500"/>
            <a:ext cx="635000" cy="635000"/>
          </a:xfrm>
          <a:prstGeom prst="rect">
            <a:avLst/>
          </a:prstGeom>
        </p:spPr>
      </p:pic>
      <p:sp>
        <p:nvSpPr>
          <p:cNvPr id="710" name="lbl710"/>
          <p:cNvSpPr txBox="1"/>
          <p:nvPr/>
        </p:nvSpPr>
        <p:spPr>
          <a:xfrm>
            <a:off x="4127500" y="5969000"/>
            <a:ext cx="88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s-ES" sz="1400" b="1" dirty="0">
                <a:solidFill>
                  <a:srgbClr val="0F172A"/>
                </a:solidFill>
                <a:latin typeface="Inter SemiBold"/>
              </a:rPr>
              <a:t>Astro</a:t>
            </a:r>
          </a:p>
        </p:txBody>
      </p:sp>
      <p:sp>
        <p:nvSpPr>
          <p:cNvPr id="711" name="lbl711"/>
          <p:cNvSpPr txBox="1"/>
          <p:nvPr/>
        </p:nvSpPr>
        <p:spPr>
          <a:xfrm>
            <a:off x="5524500" y="5969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s-ES" sz="1400" b="1" dirty="0">
                <a:solidFill>
                  <a:srgbClr val="0F172A"/>
                </a:solidFill>
                <a:latin typeface="Inter SemiBold"/>
              </a:rPr>
              <a:t>API REST</a:t>
            </a:r>
          </a:p>
        </p:txBody>
      </p:sp>
      <p:sp>
        <p:nvSpPr>
          <p:cNvPr id="712" name="lbl712"/>
          <p:cNvSpPr txBox="1"/>
          <p:nvPr/>
        </p:nvSpPr>
        <p:spPr>
          <a:xfrm>
            <a:off x="6921500" y="5969000"/>
            <a:ext cx="1143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s-ES" sz="1400" b="1" dirty="0">
                <a:solidFill>
                  <a:srgbClr val="0F172A"/>
                </a:solidFill>
                <a:latin typeface="Inter SemiBold"/>
              </a:rPr>
              <a:t>Base de datos</a:t>
            </a:r>
          </a:p>
        </p:txBody>
      </p:sp>
    </p:spTree>
    <p:extLst>
      <p:ext uri="{BB962C8B-B14F-4D97-AF65-F5344CB8AC3E}">
        <p14:creationId xmlns:p14="http://schemas.microsoft.com/office/powerpoint/2010/main" val="3852572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leftcard"/>
          <p:cNvSpPr/>
          <p:nvPr/>
        </p:nvSpPr>
        <p:spPr>
          <a:xfrm>
            <a:off x="479125" y="1651000"/>
            <a:ext cx="5816600" cy="4800600"/>
          </a:xfrm>
          <a:prstGeom prst="roundRect">
            <a:avLst>
              <a:gd name="adj" fmla="val 3000"/>
            </a:avLst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51" name="rightcard"/>
          <p:cNvSpPr/>
          <p:nvPr/>
        </p:nvSpPr>
        <p:spPr>
          <a:xfrm>
            <a:off x="6394650" y="1651000"/>
            <a:ext cx="5308600" cy="480060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699516" y="1779766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algn="l">
              <a:buNone/>
            </a:pPr>
            <a:r>
              <a:rPr lang="es-ES" sz="2000" b="1" dirty="0">
                <a:solidFill>
                  <a:srgbClr val="10B981"/>
                </a:solidFill>
                <a:latin typeface="Poppins"/>
              </a:rPr>
              <a:t>Ventajas</a:t>
            </a:r>
          </a:p>
        </p:txBody>
      </p:sp>
      <p:sp>
        <p:nvSpPr>
          <p:cNvPr id="233" name="Google Shape;233;p24"/>
          <p:cNvSpPr txBox="1"/>
          <p:nvPr/>
        </p:nvSpPr>
        <p:spPr>
          <a:xfrm>
            <a:off x="6528054" y="1770622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algn="l">
              <a:buNone/>
            </a:pPr>
            <a:r>
              <a:rPr lang="es-ES" sz="2000" b="1" dirty="0">
                <a:solidFill>
                  <a:srgbClr val="EF4444"/>
                </a:solidFill>
                <a:latin typeface="Poppins"/>
              </a:rPr>
              <a:t>Desventajas</a:t>
            </a:r>
          </a:p>
        </p:txBody>
      </p:sp>
      <p:sp>
        <p:nvSpPr>
          <p:cNvPr id="248" name="Google Shape;248;p2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buNone/>
            </a:pPr>
            <a:r>
              <a:rPr lang="es-ES" sz="3150" b="1" dirty="0">
                <a:solidFill>
                  <a:srgbClr val="0F172A"/>
                </a:solidFill>
                <a:latin typeface="Poppins"/>
                <a:ea typeface="Poppins"/>
              </a:rPr>
              <a:t>Ventajas y Desventajas</a:t>
            </a:r>
          </a:p>
        </p:txBody>
      </p:sp>
      <p:sp>
        <p:nvSpPr>
          <p:cNvPr id="249" name="Google Shape;249;p24"/>
          <p:cNvSpPr/>
          <p:nvPr/>
        </p:nvSpPr>
        <p:spPr>
          <a:xfrm>
            <a:off x="571500" y="1171575"/>
            <a:ext cx="7362825" cy="1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87;p13" descr="image.png">
            <a:extLst>
              <a:ext uri="{FF2B5EF4-FFF2-40B4-BE49-F238E27FC236}">
                <a16:creationId xmlns:a16="http://schemas.microsoft.com/office/drawing/2014/main" id="{9E81F416-4665-972E-54AC-7F3F74A7CC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257" t="8720" r="71036" b="7760"/>
          <a:stretch>
            <a:fillRect/>
          </a:stretch>
        </p:blipFill>
        <p:spPr>
          <a:xfrm>
            <a:off x="11309603" y="473773"/>
            <a:ext cx="621793" cy="795528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t800"/>
          <p:cNvSpPr txBox="1"/>
          <p:nvPr/>
        </p:nvSpPr>
        <p:spPr>
          <a:xfrm>
            <a:off x="1054100" y="2286000"/>
            <a:ext cx="2222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s-ES" sz="1400" dirty="0">
                <a:solidFill>
                  <a:srgbClr val="475569"/>
                </a:solidFill>
                <a:latin typeface="Inter"/>
              </a:rPr>
              <a:t>Excelente rendimiento.</a:t>
            </a:r>
          </a:p>
        </p:txBody>
      </p:sp>
      <p:sp>
        <p:nvSpPr>
          <p:cNvPr id="801" name="t801"/>
          <p:cNvSpPr txBox="1"/>
          <p:nvPr/>
        </p:nvSpPr>
        <p:spPr>
          <a:xfrm>
            <a:off x="3873500" y="2286000"/>
            <a:ext cx="2476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s-ES" sz="1400" dirty="0">
                <a:solidFill>
                  <a:srgbClr val="475569"/>
                </a:solidFill>
                <a:latin typeface="Inter"/>
              </a:rPr>
              <a:t>Buen posicionamiento SEO.</a:t>
            </a:r>
          </a:p>
        </p:txBody>
      </p:sp>
      <p:sp>
        <p:nvSpPr>
          <p:cNvPr id="802" name="t802"/>
          <p:cNvSpPr txBox="1"/>
          <p:nvPr/>
        </p:nvSpPr>
        <p:spPr>
          <a:xfrm>
            <a:off x="1054100" y="3454400"/>
            <a:ext cx="2222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s-ES" sz="1400" dirty="0">
                <a:solidFill>
                  <a:srgbClr val="475569"/>
                </a:solidFill>
                <a:latin typeface="Inter"/>
              </a:rPr>
              <a:t>Menor cantidad de JavaScript en el navegador.</a:t>
            </a:r>
          </a:p>
        </p:txBody>
      </p:sp>
      <p:sp>
        <p:nvSpPr>
          <p:cNvPr id="803" name="t803"/>
          <p:cNvSpPr txBox="1"/>
          <p:nvPr/>
        </p:nvSpPr>
        <p:spPr>
          <a:xfrm>
            <a:off x="3873500" y="3454400"/>
            <a:ext cx="2476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s-ES" sz="1400" dirty="0">
                <a:solidFill>
                  <a:srgbClr val="475569"/>
                </a:solidFill>
                <a:latin typeface="Inter"/>
              </a:rPr>
              <a:t>Compatible con contenido estático y datos dinámicos.</a:t>
            </a:r>
          </a:p>
        </p:txBody>
      </p:sp>
      <p:sp>
        <p:nvSpPr>
          <p:cNvPr id="804" name="t804"/>
          <p:cNvSpPr txBox="1"/>
          <p:nvPr/>
        </p:nvSpPr>
        <p:spPr>
          <a:xfrm>
            <a:off x="1054100" y="4622800"/>
            <a:ext cx="2222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s-ES" sz="1400" dirty="0">
                <a:solidFill>
                  <a:srgbClr val="475569"/>
                </a:solidFill>
                <a:latin typeface="Inter"/>
              </a:rPr>
              <a:t>Puede consumir APIs de diferentes tecnologías.</a:t>
            </a:r>
          </a:p>
        </p:txBody>
      </p:sp>
      <p:sp>
        <p:nvSpPr>
          <p:cNvPr id="805" name="t805"/>
          <p:cNvSpPr txBox="1"/>
          <p:nvPr/>
        </p:nvSpPr>
        <p:spPr>
          <a:xfrm>
            <a:off x="3873500" y="4622800"/>
            <a:ext cx="2476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s-ES" sz="1400" dirty="0">
                <a:solidFill>
                  <a:srgbClr val="475569"/>
                </a:solidFill>
                <a:latin typeface="Inter"/>
              </a:rPr>
              <a:t>Buena experiencia de desarrollo.</a:t>
            </a:r>
          </a:p>
        </p:txBody>
      </p:sp>
      <p:sp>
        <p:nvSpPr>
          <p:cNvPr id="806" name="t806"/>
          <p:cNvSpPr txBox="1"/>
          <p:nvPr/>
        </p:nvSpPr>
        <p:spPr>
          <a:xfrm>
            <a:off x="1054100" y="5778500"/>
            <a:ext cx="2222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s-ES" sz="1400" dirty="0">
                <a:solidFill>
                  <a:srgbClr val="475569"/>
                </a:solidFill>
                <a:latin typeface="Inter"/>
              </a:rPr>
              <a:t>Permite separar la interfaz del backend.</a:t>
            </a:r>
          </a:p>
        </p:txBody>
      </p:sp>
      <p:sp>
        <p:nvSpPr>
          <p:cNvPr id="807" name="t807"/>
          <p:cNvSpPr txBox="1"/>
          <p:nvPr/>
        </p:nvSpPr>
        <p:spPr>
          <a:xfrm>
            <a:off x="3873500" y="5778500"/>
            <a:ext cx="2476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s-ES" sz="1400" dirty="0">
                <a:solidFill>
                  <a:srgbClr val="475569"/>
                </a:solidFill>
                <a:latin typeface="Inter"/>
              </a:rPr>
              <a:t>Puede usar renderizado del lado del servidor.</a:t>
            </a:r>
          </a:p>
        </p:txBody>
      </p:sp>
      <p:sp>
        <p:nvSpPr>
          <p:cNvPr id="820" name="t820"/>
          <p:cNvSpPr txBox="1"/>
          <p:nvPr/>
        </p:nvSpPr>
        <p:spPr>
          <a:xfrm>
            <a:off x="6858000" y="2286000"/>
            <a:ext cx="47625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s-ES" sz="1400" dirty="0">
                <a:solidFill>
                  <a:srgbClr val="475569"/>
                </a:solidFill>
                <a:latin typeface="Inter"/>
              </a:rPr>
              <a:t>No es un framework backend tradicional.</a:t>
            </a:r>
          </a:p>
        </p:txBody>
      </p:sp>
      <p:sp>
        <p:nvSpPr>
          <p:cNvPr id="821" name="t821"/>
          <p:cNvSpPr txBox="1"/>
          <p:nvPr/>
        </p:nvSpPr>
        <p:spPr>
          <a:xfrm>
            <a:off x="6858000" y="2984500"/>
            <a:ext cx="47625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s-ES" sz="1400" dirty="0">
                <a:solidFill>
                  <a:srgbClr val="475569"/>
                </a:solidFill>
                <a:latin typeface="Inter"/>
              </a:rPr>
              <a:t>No posee un ORM obligatorio integrado.</a:t>
            </a:r>
          </a:p>
        </p:txBody>
      </p:sp>
      <p:sp>
        <p:nvSpPr>
          <p:cNvPr id="822" name="t822"/>
          <p:cNvSpPr txBox="1"/>
          <p:nvPr/>
        </p:nvSpPr>
        <p:spPr>
          <a:xfrm>
            <a:off x="6858000" y="3683000"/>
            <a:ext cx="47625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s-ES" sz="1400" dirty="0">
                <a:solidFill>
                  <a:srgbClr val="475569"/>
                </a:solidFill>
                <a:latin typeface="Inter"/>
              </a:rPr>
              <a:t>Sistemas complejos pueden necesitar un backend externo.</a:t>
            </a:r>
          </a:p>
        </p:txBody>
      </p:sp>
      <p:sp>
        <p:nvSpPr>
          <p:cNvPr id="823" name="t823"/>
          <p:cNvSpPr txBox="1"/>
          <p:nvPr/>
        </p:nvSpPr>
        <p:spPr>
          <a:xfrm>
            <a:off x="6858000" y="4381500"/>
            <a:ext cx="47625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s-ES" sz="1400" dirty="0">
                <a:solidFill>
                  <a:srgbClr val="475569"/>
                </a:solidFill>
                <a:latin typeface="Inter"/>
              </a:rPr>
              <a:t>Algunas funciones requieren adaptadores (Node.js, Vercel, Netlify, Cloudflare).</a:t>
            </a:r>
          </a:p>
        </p:txBody>
      </p:sp>
      <p:sp>
        <p:nvSpPr>
          <p:cNvPr id="824" name="t824"/>
          <p:cNvSpPr txBox="1"/>
          <p:nvPr/>
        </p:nvSpPr>
        <p:spPr>
          <a:xfrm>
            <a:off x="6858000" y="5080000"/>
            <a:ext cx="47625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s-ES" sz="1400" dirty="0">
                <a:solidFill>
                  <a:srgbClr val="475569"/>
                </a:solidFill>
                <a:latin typeface="Inter"/>
              </a:rPr>
              <a:t>Su ecosistema backend es menor que Laravel, Django o Spring Boot.</a:t>
            </a:r>
          </a:p>
        </p:txBody>
      </p:sp>
      <p:sp>
        <p:nvSpPr>
          <p:cNvPr id="825" name="t825"/>
          <p:cNvSpPr txBox="1"/>
          <p:nvPr/>
        </p:nvSpPr>
        <p:spPr>
          <a:xfrm>
            <a:off x="6858000" y="5778500"/>
            <a:ext cx="47625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s-ES" sz="1400" dirty="0">
                <a:solidFill>
                  <a:srgbClr val="475569"/>
                </a:solidFill>
                <a:latin typeface="Inter"/>
              </a:rPr>
              <a:t>Puede no ser ideal para sistemas empresariales orientados al backend.</a:t>
            </a:r>
          </a:p>
        </p:txBody>
      </p:sp>
      <p:pic>
        <p:nvPicPr>
          <p:cNvPr id="834" name="Graphic 834" descr="x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8100" y="2311400"/>
            <a:ext cx="228600" cy="228600"/>
          </a:xfrm>
          <a:prstGeom prst="rect">
            <a:avLst/>
          </a:prstGeom>
        </p:spPr>
      </p:pic>
      <p:pic>
        <p:nvPicPr>
          <p:cNvPr id="835" name="Graphic 835" descr="x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8100" y="3009900"/>
            <a:ext cx="228600" cy="228600"/>
          </a:xfrm>
          <a:prstGeom prst="rect">
            <a:avLst/>
          </a:prstGeom>
        </p:spPr>
      </p:pic>
      <p:pic>
        <p:nvPicPr>
          <p:cNvPr id="836" name="Graphic 836" descr="x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8100" y="3708400"/>
            <a:ext cx="228600" cy="228600"/>
          </a:xfrm>
          <a:prstGeom prst="rect">
            <a:avLst/>
          </a:prstGeom>
        </p:spPr>
      </p:pic>
      <p:pic>
        <p:nvPicPr>
          <p:cNvPr id="837" name="Graphic 837" descr="x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8100" y="4406900"/>
            <a:ext cx="228600" cy="228600"/>
          </a:xfrm>
          <a:prstGeom prst="rect">
            <a:avLst/>
          </a:prstGeom>
        </p:spPr>
      </p:pic>
      <p:pic>
        <p:nvPicPr>
          <p:cNvPr id="838" name="Graphic 838" descr="x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8100" y="5105400"/>
            <a:ext cx="228600" cy="228600"/>
          </a:xfrm>
          <a:prstGeom prst="rect">
            <a:avLst/>
          </a:prstGeom>
        </p:spPr>
      </p:pic>
      <p:pic>
        <p:nvPicPr>
          <p:cNvPr id="839" name="Graphic 839" descr="x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8100" y="5803900"/>
            <a:ext cx="228600" cy="228600"/>
          </a:xfrm>
          <a:prstGeom prst="rect">
            <a:avLst/>
          </a:prstGeom>
        </p:spPr>
      </p:pic>
      <p:sp>
        <p:nvSpPr>
          <p:cNvPr id="860" name="dot860"/>
          <p:cNvSpPr/>
          <p:nvPr/>
        </p:nvSpPr>
        <p:spPr>
          <a:xfrm>
            <a:off x="571500" y="2311400"/>
            <a:ext cx="203200" cy="2032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wrap="squar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s-ES" sz="1100" b="1" dirty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861" name="dot861"/>
          <p:cNvSpPr/>
          <p:nvPr/>
        </p:nvSpPr>
        <p:spPr>
          <a:xfrm>
            <a:off x="3390900" y="2311400"/>
            <a:ext cx="203200" cy="2032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wrap="squar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s-ES" sz="1100" b="1" dirty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862" name="dot862"/>
          <p:cNvSpPr/>
          <p:nvPr/>
        </p:nvSpPr>
        <p:spPr>
          <a:xfrm>
            <a:off x="571500" y="3479800"/>
            <a:ext cx="203200" cy="2032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wrap="squar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s-ES" sz="1100" b="1" dirty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863" name="dot863"/>
          <p:cNvSpPr/>
          <p:nvPr/>
        </p:nvSpPr>
        <p:spPr>
          <a:xfrm>
            <a:off x="3390900" y="3479800"/>
            <a:ext cx="203200" cy="2032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wrap="squar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s-ES" sz="1100" b="1" dirty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864" name="dot864"/>
          <p:cNvSpPr/>
          <p:nvPr/>
        </p:nvSpPr>
        <p:spPr>
          <a:xfrm>
            <a:off x="571500" y="4648200"/>
            <a:ext cx="203200" cy="2032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wrap="squar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s-ES" sz="1100" b="1" dirty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865" name="dot865"/>
          <p:cNvSpPr/>
          <p:nvPr/>
        </p:nvSpPr>
        <p:spPr>
          <a:xfrm>
            <a:off x="3390900" y="4648200"/>
            <a:ext cx="203200" cy="2032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wrap="squar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s-ES" sz="1100" b="1" dirty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866" name="dot866"/>
          <p:cNvSpPr/>
          <p:nvPr/>
        </p:nvSpPr>
        <p:spPr>
          <a:xfrm>
            <a:off x="571500" y="5803900"/>
            <a:ext cx="203200" cy="2032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wrap="squar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s-ES" sz="1100" b="1" dirty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867" name="dot867"/>
          <p:cNvSpPr/>
          <p:nvPr/>
        </p:nvSpPr>
        <p:spPr>
          <a:xfrm>
            <a:off x="3390900" y="5803900"/>
            <a:ext cx="203200" cy="2032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wrap="square" lIns="0" tIns="0" rIns="0" bIns="0" anchor="ctr" anchorCtr="1">
            <a:noAutofit/>
          </a:bodyPr>
          <a:lstStyle/>
          <a:p>
            <a:pPr algn="ctr">
              <a:buNone/>
            </a:pPr>
            <a:r>
              <a:rPr lang="es-ES" sz="1100" b="1" dirty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</p:spTree>
    <p:extLst>
      <p:ext uri="{BB962C8B-B14F-4D97-AF65-F5344CB8AC3E}">
        <p14:creationId xmlns:p14="http://schemas.microsoft.com/office/powerpoint/2010/main" val="4062688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571500" y="629163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buNone/>
            </a:pPr>
            <a:r>
              <a:rPr lang="es-ES" sz="3150" b="1" dirty="0">
                <a:solidFill>
                  <a:srgbClr val="0F172A"/>
                </a:solidFill>
                <a:latin typeface="Poppins"/>
                <a:ea typeface="Poppins"/>
              </a:rPr>
              <a:t>Casos de Uso Reales</a:t>
            </a:r>
          </a:p>
        </p:txBody>
      </p:sp>
      <p:sp>
        <p:nvSpPr>
          <p:cNvPr id="217" name="Google Shape;217;p22"/>
          <p:cNvSpPr/>
          <p:nvPr/>
        </p:nvSpPr>
        <p:spPr>
          <a:xfrm>
            <a:off x="571500" y="1171575"/>
            <a:ext cx="4295775" cy="1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87;p13" descr="image.png">
            <a:extLst>
              <a:ext uri="{FF2B5EF4-FFF2-40B4-BE49-F238E27FC236}">
                <a16:creationId xmlns:a16="http://schemas.microsoft.com/office/drawing/2014/main" id="{A62E42E9-42DF-56E2-1A47-546405E6645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257" t="8720" r="71036" b="7760"/>
          <a:stretch>
            <a:fillRect/>
          </a:stretch>
        </p:blipFill>
        <p:spPr>
          <a:xfrm>
            <a:off x="11309603" y="473773"/>
            <a:ext cx="621793" cy="795528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subhead"/>
          <p:cNvSpPr txBox="1"/>
          <p:nvPr/>
        </p:nvSpPr>
        <p:spPr>
          <a:xfrm>
            <a:off x="571500" y="1778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s-ES" sz="1600" b="1" dirty="0">
                <a:solidFill>
                  <a:srgbClr val="0F172A"/>
                </a:solidFill>
                <a:latin typeface="Poppins"/>
              </a:rPr>
              <a:t>Sitios que combinan contenido estático con datos de una base de datos:</a:t>
            </a:r>
          </a:p>
        </p:txBody>
      </p:sp>
      <p:sp>
        <p:nvSpPr>
          <p:cNvPr id="910" name="use0"/>
          <p:cNvSpPr txBox="1"/>
          <p:nvPr/>
        </p:nvSpPr>
        <p:spPr>
          <a:xfrm>
            <a:off x="927100" y="2286000"/>
            <a:ext cx="2222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s-ES" sz="1400" dirty="0">
                <a:solidFill>
                  <a:srgbClr val="0F172A"/>
                </a:solidFill>
                <a:latin typeface="Inter"/>
              </a:rPr>
              <a:t>Sitios que consumen APIs externas</a:t>
            </a:r>
          </a:p>
        </p:txBody>
      </p:sp>
      <p:sp>
        <p:nvSpPr>
          <p:cNvPr id="911" name="use1"/>
          <p:cNvSpPr txBox="1"/>
          <p:nvPr/>
        </p:nvSpPr>
        <p:spPr>
          <a:xfrm>
            <a:off x="3721100" y="2286000"/>
            <a:ext cx="2222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s-ES" sz="1400" dirty="0">
                <a:solidFill>
                  <a:srgbClr val="0F172A"/>
                </a:solidFill>
                <a:latin typeface="Inter"/>
              </a:rPr>
              <a:t>Catálogos de productos</a:t>
            </a:r>
          </a:p>
        </p:txBody>
      </p:sp>
      <p:sp>
        <p:nvSpPr>
          <p:cNvPr id="912" name="use2"/>
          <p:cNvSpPr txBox="1"/>
          <p:nvPr/>
        </p:nvSpPr>
        <p:spPr>
          <a:xfrm>
            <a:off x="6515100" y="2286000"/>
            <a:ext cx="2222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s-ES" sz="1400" dirty="0">
                <a:solidFill>
                  <a:srgbClr val="0F172A"/>
                </a:solidFill>
                <a:latin typeface="Inter"/>
              </a:rPr>
              <a:t>Sistemas de reservas</a:t>
            </a:r>
          </a:p>
        </p:txBody>
      </p:sp>
      <p:sp>
        <p:nvSpPr>
          <p:cNvPr id="913" name="use3"/>
          <p:cNvSpPr txBox="1"/>
          <p:nvPr/>
        </p:nvSpPr>
        <p:spPr>
          <a:xfrm>
            <a:off x="9309100" y="2286000"/>
            <a:ext cx="2222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s-ES" sz="1400" dirty="0">
                <a:solidFill>
                  <a:srgbClr val="0F172A"/>
                </a:solidFill>
                <a:latin typeface="Inter"/>
              </a:rPr>
              <a:t>Portales informativos</a:t>
            </a:r>
          </a:p>
        </p:txBody>
      </p:sp>
      <p:sp>
        <p:nvSpPr>
          <p:cNvPr id="914" name="use4"/>
          <p:cNvSpPr txBox="1"/>
          <p:nvPr/>
        </p:nvSpPr>
        <p:spPr>
          <a:xfrm>
            <a:off x="927100" y="2946400"/>
            <a:ext cx="2222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s-ES" sz="1400" dirty="0">
                <a:solidFill>
                  <a:srgbClr val="0F172A"/>
                </a:solidFill>
                <a:latin typeface="Inter"/>
              </a:rPr>
              <a:t>Aplicaciones de reportes</a:t>
            </a:r>
          </a:p>
        </p:txBody>
      </p:sp>
      <p:sp>
        <p:nvSpPr>
          <p:cNvPr id="915" name="use5"/>
          <p:cNvSpPr txBox="1"/>
          <p:nvPr/>
        </p:nvSpPr>
        <p:spPr>
          <a:xfrm>
            <a:off x="3721100" y="2946400"/>
            <a:ext cx="2222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s-ES" sz="1400" dirty="0">
                <a:solidFill>
                  <a:srgbClr val="0F172A"/>
                </a:solidFill>
                <a:latin typeface="Inter"/>
              </a:rPr>
              <a:t>Paneles administrativos sencillos</a:t>
            </a:r>
          </a:p>
        </p:txBody>
      </p:sp>
      <p:sp>
        <p:nvSpPr>
          <p:cNvPr id="916" name="use6"/>
          <p:cNvSpPr txBox="1"/>
          <p:nvPr/>
        </p:nvSpPr>
        <p:spPr>
          <a:xfrm>
            <a:off x="6515100" y="2946400"/>
            <a:ext cx="2222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s-ES" sz="1400" dirty="0">
                <a:solidFill>
                  <a:srgbClr val="0F172A"/>
                </a:solidFill>
                <a:latin typeface="Inter"/>
              </a:rPr>
              <a:t>Blogs con información dinámica</a:t>
            </a:r>
          </a:p>
        </p:txBody>
      </p:sp>
      <p:sp>
        <p:nvSpPr>
          <p:cNvPr id="917" name="use7"/>
          <p:cNvSpPr txBox="1"/>
          <p:nvPr/>
        </p:nvSpPr>
        <p:spPr>
          <a:xfrm>
            <a:off x="9309100" y="2946400"/>
            <a:ext cx="2222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s-ES" sz="1400" dirty="0">
                <a:solidFill>
                  <a:srgbClr val="0F172A"/>
                </a:solidFill>
                <a:latin typeface="Inter"/>
              </a:rPr>
              <a:t>Tiendas conectadas con pasarelas de pago</a:t>
            </a:r>
          </a:p>
        </p:txBody>
      </p:sp>
      <p:sp>
        <p:nvSpPr>
          <p:cNvPr id="930" name="calloutbox"/>
          <p:cNvSpPr/>
          <p:nvPr/>
        </p:nvSpPr>
        <p:spPr>
          <a:xfrm>
            <a:off x="571500" y="3759200"/>
            <a:ext cx="11049000" cy="2032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1" name="calloutbar"/>
          <p:cNvSpPr/>
          <p:nvPr/>
        </p:nvSpPr>
        <p:spPr>
          <a:xfrm>
            <a:off x="571500" y="3759200"/>
            <a:ext cx="76200" cy="2032000"/>
          </a:xfrm>
          <a:prstGeom prst="rect">
            <a:avLst/>
          </a:prstGeom>
          <a:solidFill>
            <a:srgbClr val="FF5D0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2" name="calloutText"/>
          <p:cNvSpPr txBox="1"/>
          <p:nvPr/>
        </p:nvSpPr>
        <p:spPr>
          <a:xfrm>
            <a:off x="952500" y="3987800"/>
            <a:ext cx="10287000" cy="157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s-ES" sz="1600" b="1" dirty="0">
                <a:solidFill>
                  <a:srgbClr val="0F172A"/>
                </a:solidFill>
                <a:latin typeface="Poppins"/>
              </a:rPr>
              <a:t>Caso Real Destacado: Canadian Solar (CSI Plus)</a:t>
            </a:r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s-ES" sz="1500" dirty="0">
                <a:solidFill>
                  <a:srgbClr val="475569"/>
                </a:solidFill>
                <a:latin typeface="Inter"/>
              </a:rPr>
              <a:t>Canadian Solar Inc. (NASDAQ: CSIQ), fabricante global de energía solar, construyó con Astro la plataforma CSI Plus para capacitar e informar a integradores solares en Brasil (csiplus.canadiansolar.com.br).</a:t>
            </a:r>
          </a:p>
          <a:p>
            <a:pPr marL="0" indent="0">
              <a:buNone/>
            </a:pPr>
            <a:r>
              <a:rPr lang="es-ES" sz="1400" i="1" dirty="0">
                <a:solidFill>
                  <a:srgbClr val="94A3B8"/>
                </a:solidFill>
                <a:latin typeface="Inter"/>
              </a:rPr>
              <a:t>Fuente: Astro Showcase oficial (astro.build/showcase); Astro v5.18.1 confirmado técnicamente en astro-what-cms.netlify.app</a:t>
            </a:r>
          </a:p>
        </p:txBody>
      </p:sp>
      <p:pic>
        <p:nvPicPr>
          <p:cNvPr id="933" name="Graphic 933" descr="APIs externa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500" y="2311400"/>
            <a:ext cx="254000" cy="254000"/>
          </a:xfrm>
          <a:prstGeom prst="rect">
            <a:avLst/>
          </a:prstGeom>
        </p:spPr>
      </p:pic>
      <p:pic>
        <p:nvPicPr>
          <p:cNvPr id="934" name="Graphic 934" descr="Catálogo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65500" y="2311400"/>
            <a:ext cx="254000" cy="254000"/>
          </a:xfrm>
          <a:prstGeom prst="rect">
            <a:avLst/>
          </a:prstGeom>
        </p:spPr>
      </p:pic>
      <p:pic>
        <p:nvPicPr>
          <p:cNvPr id="935" name="Graphic 935" descr="Reserva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59500" y="2311400"/>
            <a:ext cx="254000" cy="254000"/>
          </a:xfrm>
          <a:prstGeom prst="rect">
            <a:avLst/>
          </a:prstGeom>
        </p:spPr>
      </p:pic>
      <p:pic>
        <p:nvPicPr>
          <p:cNvPr id="936" name="Graphic 936" descr="Portal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53500" y="2311400"/>
            <a:ext cx="254000" cy="254000"/>
          </a:xfrm>
          <a:prstGeom prst="rect">
            <a:avLst/>
          </a:prstGeom>
        </p:spPr>
      </p:pic>
      <p:pic>
        <p:nvPicPr>
          <p:cNvPr id="937" name="Graphic 937" descr="Report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1500" y="2971800"/>
            <a:ext cx="254000" cy="254000"/>
          </a:xfrm>
          <a:prstGeom prst="rect">
            <a:avLst/>
          </a:prstGeom>
        </p:spPr>
      </p:pic>
      <p:pic>
        <p:nvPicPr>
          <p:cNvPr id="938" name="Graphic 938" descr="Panel admi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65500" y="2971800"/>
            <a:ext cx="254000" cy="254000"/>
          </a:xfrm>
          <a:prstGeom prst="rect">
            <a:avLst/>
          </a:prstGeom>
        </p:spPr>
      </p:pic>
      <p:pic>
        <p:nvPicPr>
          <p:cNvPr id="939" name="Graphic 939" descr="Blo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59500" y="2971800"/>
            <a:ext cx="254000" cy="254000"/>
          </a:xfrm>
          <a:prstGeom prst="rect">
            <a:avLst/>
          </a:prstGeom>
        </p:spPr>
      </p:pic>
      <p:pic>
        <p:nvPicPr>
          <p:cNvPr id="940" name="Graphic 940" descr="Pasarela de pa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53500" y="2971800"/>
            <a:ext cx="2540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171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5"/>
          <p:cNvSpPr txBox="1"/>
          <p:nvPr/>
        </p:nvSpPr>
        <p:spPr>
          <a:xfrm>
            <a:off x="571500" y="629163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buNone/>
            </a:pPr>
            <a:r>
              <a:rPr lang="es-ES" sz="3150" b="1" dirty="0">
                <a:solidFill>
                  <a:srgbClr val="0F172A"/>
                </a:solidFill>
                <a:latin typeface="Poppins"/>
                <a:ea typeface="Poppins"/>
              </a:rPr>
              <a:t>Tabla Comparativa</a:t>
            </a:r>
          </a:p>
        </p:txBody>
      </p:sp>
      <p:sp>
        <p:nvSpPr>
          <p:cNvPr id="269" name="Google Shape;269;p25"/>
          <p:cNvSpPr/>
          <p:nvPr/>
        </p:nvSpPr>
        <p:spPr>
          <a:xfrm>
            <a:off x="571500" y="1171575"/>
            <a:ext cx="5543550" cy="1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87;p13" descr="image.png">
            <a:extLst>
              <a:ext uri="{FF2B5EF4-FFF2-40B4-BE49-F238E27FC236}">
                <a16:creationId xmlns:a16="http://schemas.microsoft.com/office/drawing/2014/main" id="{2141FE95-ECA0-E21C-3608-ECAC748D456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257" t="8720" r="71036" b="7760"/>
          <a:stretch>
            <a:fillRect/>
          </a:stretch>
        </p:blipFill>
        <p:spPr>
          <a:xfrm>
            <a:off x="11300077" y="473773"/>
            <a:ext cx="621793" cy="79552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3D7A487B-67A8-4694-9B47-6D2B6D3F7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047668"/>
              </p:ext>
            </p:extLst>
          </p:nvPr>
        </p:nvGraphicFramePr>
        <p:xfrm>
          <a:off x="571500" y="1841500"/>
          <a:ext cx="11049003" cy="409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429">
                  <a:extLst>
                    <a:ext uri="{9D8B030D-6E8A-4147-A177-3AD203B41FA5}">
                      <a16:colId xmlns:a16="http://schemas.microsoft.com/office/drawing/2014/main" val="2442870957"/>
                    </a:ext>
                  </a:extLst>
                </a:gridCol>
                <a:gridCol w="1578429">
                  <a:extLst>
                    <a:ext uri="{9D8B030D-6E8A-4147-A177-3AD203B41FA5}">
                      <a16:colId xmlns:a16="http://schemas.microsoft.com/office/drawing/2014/main" val="3934950864"/>
                    </a:ext>
                  </a:extLst>
                </a:gridCol>
                <a:gridCol w="1578429">
                  <a:extLst>
                    <a:ext uri="{9D8B030D-6E8A-4147-A177-3AD203B41FA5}">
                      <a16:colId xmlns:a16="http://schemas.microsoft.com/office/drawing/2014/main" val="782380634"/>
                    </a:ext>
                  </a:extLst>
                </a:gridCol>
                <a:gridCol w="1578429">
                  <a:extLst>
                    <a:ext uri="{9D8B030D-6E8A-4147-A177-3AD203B41FA5}">
                      <a16:colId xmlns:a16="http://schemas.microsoft.com/office/drawing/2014/main" val="362298869"/>
                    </a:ext>
                  </a:extLst>
                </a:gridCol>
                <a:gridCol w="1578429">
                  <a:extLst>
                    <a:ext uri="{9D8B030D-6E8A-4147-A177-3AD203B41FA5}">
                      <a16:colId xmlns:a16="http://schemas.microsoft.com/office/drawing/2014/main" val="1101355531"/>
                    </a:ext>
                  </a:extLst>
                </a:gridCol>
                <a:gridCol w="1578429">
                  <a:extLst>
                    <a:ext uri="{9D8B030D-6E8A-4147-A177-3AD203B41FA5}">
                      <a16:colId xmlns:a16="http://schemas.microsoft.com/office/drawing/2014/main" val="1176465047"/>
                    </a:ext>
                  </a:extLst>
                </a:gridCol>
                <a:gridCol w="1578429">
                  <a:extLst>
                    <a:ext uri="{9D8B030D-6E8A-4147-A177-3AD203B41FA5}">
                      <a16:colId xmlns:a16="http://schemas.microsoft.com/office/drawing/2014/main" val="142915496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s-EC" sz="1500" b="1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</a:rPr>
                        <a:t>Framework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sz="1500" b="1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</a:rPr>
                        <a:t>Lenguaje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sz="1500" b="1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</a:rPr>
                        <a:t>Enfoque principal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sz="1500" b="1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</a:rPr>
                        <a:t>Creación de APIs REST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sz="1500" b="1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</a:rPr>
                        <a:t>ORM / acceso a datos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sz="1500" b="1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</a:rPr>
                        <a:t>Curva de aprendizaje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sz="1500" b="1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</a:rPr>
                        <a:t>Uso ideal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02492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s-EC" sz="1500" b="1">
                          <a:solidFill>
                            <a:srgbClr val="0F172A"/>
                          </a:solidFill>
                          <a:latin typeface="Inter"/>
                          <a:ea typeface="Inter"/>
                        </a:rPr>
                        <a:t>Astro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C" sz="1500">
                          <a:solidFill>
                            <a:srgbClr val="475569"/>
                          </a:solidFill>
                          <a:latin typeface="Inter"/>
                          <a:ea typeface="Inter"/>
                        </a:rPr>
                        <a:t>JavaScript / TypeScript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C" sz="1500">
                          <a:solidFill>
                            <a:srgbClr val="475569"/>
                          </a:solidFill>
                          <a:latin typeface="Inter"/>
                          <a:ea typeface="Inter"/>
                        </a:rPr>
                        <a:t>Framework web full-stack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C" sz="1500">
                          <a:solidFill>
                            <a:srgbClr val="475569"/>
                          </a:solidFill>
                          <a:latin typeface="Inter"/>
                          <a:ea typeface="Inter"/>
                        </a:rPr>
                        <a:t>Puede crear o consumir endpoints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C" sz="1500">
                          <a:solidFill>
                            <a:srgbClr val="475569"/>
                          </a:solidFill>
                          <a:latin typeface="Inter"/>
                          <a:ea typeface="Inter"/>
                        </a:rPr>
                        <a:t>No tiene uno obligatorio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C" sz="1500">
                          <a:solidFill>
                            <a:srgbClr val="475569"/>
                          </a:solidFill>
                          <a:latin typeface="Inter"/>
                          <a:ea typeface="Inter"/>
                        </a:rPr>
                        <a:t>Baja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C" sz="1500">
                          <a:solidFill>
                            <a:srgbClr val="475569"/>
                          </a:solidFill>
                          <a:latin typeface="Inter"/>
                          <a:ea typeface="Inter"/>
                        </a:rPr>
                        <a:t>Sitios rápidos conectados a servicios externos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5037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s-EC" sz="1500" b="1">
                          <a:solidFill>
                            <a:srgbClr val="0F172A"/>
                          </a:solidFill>
                          <a:latin typeface="Inter"/>
                          <a:ea typeface="Inter"/>
                        </a:rPr>
                        <a:t>Express.js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C" sz="1500">
                          <a:solidFill>
                            <a:srgbClr val="475569"/>
                          </a:solidFill>
                          <a:latin typeface="Inter"/>
                          <a:ea typeface="Inter"/>
                        </a:rPr>
                        <a:t>JavaScript / TypeScript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C" sz="1500">
                          <a:solidFill>
                            <a:srgbClr val="475569"/>
                          </a:solidFill>
                          <a:latin typeface="Inter"/>
                          <a:ea typeface="Inter"/>
                        </a:rPr>
                        <a:t>Backend minimalista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C" sz="1500">
                          <a:solidFill>
                            <a:srgbClr val="475569"/>
                          </a:solidFill>
                          <a:latin typeface="Inter"/>
                          <a:ea typeface="Inter"/>
                        </a:rPr>
                        <a:t>Ampliamente usado para crear APIs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C" sz="1500">
                          <a:solidFill>
                            <a:srgbClr val="475569"/>
                          </a:solidFill>
                          <a:latin typeface="Inter"/>
                          <a:ea typeface="Inter"/>
                        </a:rPr>
                        <a:t>Prisma, Sequelize o drivers directos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C" sz="1500">
                          <a:solidFill>
                            <a:srgbClr val="475569"/>
                          </a:solidFill>
                          <a:latin typeface="Inter"/>
                          <a:ea typeface="Inter"/>
                        </a:rPr>
                        <a:t>Media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C" sz="1500">
                          <a:solidFill>
                            <a:srgbClr val="475569"/>
                          </a:solidFill>
                          <a:latin typeface="Inter"/>
                          <a:ea typeface="Inter"/>
                        </a:rPr>
                        <a:t>APIs y microservicios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0778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s-EC" sz="1500" b="1">
                          <a:solidFill>
                            <a:srgbClr val="0F172A"/>
                          </a:solidFill>
                          <a:latin typeface="Inter"/>
                          <a:ea typeface="Inter"/>
                        </a:rPr>
                        <a:t>Laravel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C" sz="1500">
                          <a:solidFill>
                            <a:srgbClr val="475569"/>
                          </a:solidFill>
                          <a:latin typeface="Inter"/>
                          <a:ea typeface="Inter"/>
                        </a:rPr>
                        <a:t>PHP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C" sz="1500">
                          <a:solidFill>
                            <a:srgbClr val="475569"/>
                          </a:solidFill>
                          <a:latin typeface="Inter"/>
                          <a:ea typeface="Inter"/>
                        </a:rPr>
                        <a:t>Backend completo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C" sz="1500">
                          <a:solidFill>
                            <a:srgbClr val="475569"/>
                          </a:solidFill>
                          <a:latin typeface="Inter"/>
                          <a:ea typeface="Inter"/>
                        </a:rPr>
                        <a:t>Herramientas nativas para servicios 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C" sz="1500">
                          <a:solidFill>
                            <a:srgbClr val="475569"/>
                          </a:solidFill>
                          <a:latin typeface="Inter"/>
                          <a:ea typeface="Inter"/>
                        </a:rPr>
                        <a:t>Eloquent 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C" sz="1500">
                          <a:solidFill>
                            <a:srgbClr val="475569"/>
                          </a:solidFill>
                          <a:latin typeface="Inter"/>
                          <a:ea typeface="Inter"/>
                        </a:rPr>
                        <a:t>Media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C" sz="1500">
                          <a:solidFill>
                            <a:srgbClr val="475569"/>
                          </a:solidFill>
                          <a:latin typeface="Inter"/>
                          <a:ea typeface="Inter"/>
                        </a:rPr>
                        <a:t>Sistemas administrativos y empresariales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32528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s-EC" sz="1500" b="1">
                          <a:solidFill>
                            <a:srgbClr val="0F172A"/>
                          </a:solidFill>
                          <a:latin typeface="Inter"/>
                          <a:ea typeface="Inter"/>
                        </a:rPr>
                        <a:t>Django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C" sz="1500">
                          <a:solidFill>
                            <a:srgbClr val="475569"/>
                          </a:solidFill>
                          <a:latin typeface="Inter"/>
                          <a:ea typeface="Inter"/>
                        </a:rPr>
                        <a:t>Python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C" sz="1500">
                          <a:solidFill>
                            <a:srgbClr val="475569"/>
                          </a:solidFill>
                          <a:latin typeface="Inter"/>
                          <a:ea typeface="Inter"/>
                        </a:rPr>
                        <a:t>Backend completo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C" sz="1500">
                          <a:solidFill>
                            <a:srgbClr val="475569"/>
                          </a:solidFill>
                          <a:latin typeface="Inter"/>
                          <a:ea typeface="Inter"/>
                        </a:rPr>
                        <a:t>Django REST Framework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C" sz="1500">
                          <a:solidFill>
                            <a:srgbClr val="475569"/>
                          </a:solidFill>
                          <a:latin typeface="Inter"/>
                          <a:ea typeface="Inter"/>
                        </a:rPr>
                        <a:t>Django ORM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C" sz="1500">
                          <a:solidFill>
                            <a:srgbClr val="475569"/>
                          </a:solidFill>
                          <a:latin typeface="Inter"/>
                          <a:ea typeface="Inter"/>
                        </a:rPr>
                        <a:t>Media-alta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C" sz="1500">
                          <a:solidFill>
                            <a:srgbClr val="475569"/>
                          </a:solidFill>
                          <a:latin typeface="Inter"/>
                          <a:ea typeface="Inter"/>
                        </a:rPr>
                        <a:t>Sistemas robustos orientados a datos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514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1779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buNone/>
            </a:pPr>
            <a:r>
              <a:rPr lang="es-ES" sz="3150" b="1" dirty="0">
                <a:solidFill>
                  <a:srgbClr val="0F172A"/>
                </a:solidFill>
                <a:latin typeface="Poppins"/>
                <a:ea typeface="Poppins"/>
              </a:rPr>
              <a:t>Conclusiones</a:t>
            </a:r>
          </a:p>
        </p:txBody>
      </p:sp>
      <p:sp>
        <p:nvSpPr>
          <p:cNvPr id="225" name="Google Shape;225;p23"/>
          <p:cNvSpPr/>
          <p:nvPr/>
        </p:nvSpPr>
        <p:spPr>
          <a:xfrm>
            <a:off x="571500" y="1219200"/>
            <a:ext cx="762000" cy="50800"/>
          </a:xfrm>
          <a:prstGeom prst="rect">
            <a:avLst/>
          </a:prstGeom>
          <a:solidFill>
            <a:srgbClr val="FF5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87;p13" descr="image.png">
            <a:extLst>
              <a:ext uri="{FF2B5EF4-FFF2-40B4-BE49-F238E27FC236}">
                <a16:creationId xmlns:a16="http://schemas.microsoft.com/office/drawing/2014/main" id="{52CB5CFE-1589-9BBF-AC6D-F1495685CE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257" t="8720" r="71036" b="7760"/>
          <a:stretch>
            <a:fillRect/>
          </a:stretch>
        </p:blipFill>
        <p:spPr>
          <a:xfrm>
            <a:off x="11274932" y="446679"/>
            <a:ext cx="621793" cy="795528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c0"/>
          <p:cNvSpPr txBox="1"/>
          <p:nvPr/>
        </p:nvSpPr>
        <p:spPr>
          <a:xfrm>
            <a:off x="571500" y="17780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12000"/>
              </a:lnSpc>
              <a:buFont typeface="Arial"/>
              <a:buChar char="•"/>
            </a:pPr>
            <a:r>
              <a:rPr lang="es-ES" sz="1600" dirty="0">
                <a:solidFill>
                  <a:srgbClr val="0F172A"/>
                </a:solidFill>
                <a:latin typeface="Inter"/>
              </a:rPr>
              <a:t>Astro nació principalmente como una herramienta orientada al front-end y al rendimiento.</a:t>
            </a:r>
          </a:p>
        </p:txBody>
      </p:sp>
      <p:sp>
        <p:nvSpPr>
          <p:cNvPr id="951" name="c1"/>
          <p:cNvSpPr txBox="1"/>
          <p:nvPr/>
        </p:nvSpPr>
        <p:spPr>
          <a:xfrm>
            <a:off x="571500" y="23876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12000"/>
              </a:lnSpc>
              <a:buFont typeface="Arial"/>
              <a:buChar char="•"/>
            </a:pPr>
            <a:r>
              <a:rPr lang="es-ES" sz="1600" dirty="0">
                <a:solidFill>
                  <a:srgbClr val="0F172A"/>
                </a:solidFill>
                <a:latin typeface="Inter"/>
              </a:rPr>
              <a:t>Actualmente permite consumir APIs REST y ejecutar funciones del lado del servidor.</a:t>
            </a:r>
          </a:p>
        </p:txBody>
      </p:sp>
      <p:sp>
        <p:nvSpPr>
          <p:cNvPr id="952" name="c2"/>
          <p:cNvSpPr txBox="1"/>
          <p:nvPr/>
        </p:nvSpPr>
        <p:spPr>
          <a:xfrm>
            <a:off x="571500" y="29972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12000"/>
              </a:lnSpc>
              <a:buFont typeface="Arial"/>
              <a:buChar char="•"/>
            </a:pPr>
            <a:r>
              <a:rPr lang="es-ES" sz="1600" dirty="0">
                <a:solidFill>
                  <a:srgbClr val="0F172A"/>
                </a:solidFill>
                <a:latin typeface="Inter"/>
              </a:rPr>
              <a:t>Puede comunicarse con backends desarrollados en distintos lenguajes y tecnologías.</a:t>
            </a:r>
          </a:p>
        </p:txBody>
      </p:sp>
      <p:sp>
        <p:nvSpPr>
          <p:cNvPr id="953" name="c3"/>
          <p:cNvSpPr txBox="1"/>
          <p:nvPr/>
        </p:nvSpPr>
        <p:spPr>
          <a:xfrm>
            <a:off x="571500" y="36068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12000"/>
              </a:lnSpc>
              <a:buFont typeface="Arial"/>
              <a:buChar char="•"/>
            </a:pPr>
            <a:r>
              <a:rPr lang="es-ES" sz="1600" dirty="0">
                <a:solidFill>
                  <a:srgbClr val="0F172A"/>
                </a:solidFill>
                <a:latin typeface="Inter"/>
              </a:rPr>
              <a:t>La separación entre Astro, la API y la base de datos facilita el mantenimiento del sistema.</a:t>
            </a:r>
          </a:p>
        </p:txBody>
      </p:sp>
      <p:sp>
        <p:nvSpPr>
          <p:cNvPr id="954" name="c4"/>
          <p:cNvSpPr txBox="1"/>
          <p:nvPr/>
        </p:nvSpPr>
        <p:spPr>
          <a:xfrm>
            <a:off x="571500" y="4216400"/>
            <a:ext cx="11049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12000"/>
              </a:lnSpc>
              <a:buFont typeface="Arial"/>
              <a:buChar char="•"/>
            </a:pPr>
            <a:r>
              <a:rPr lang="es-ES" sz="1600" dirty="0">
                <a:solidFill>
                  <a:srgbClr val="0F172A"/>
                </a:solidFill>
                <a:latin typeface="Inter"/>
              </a:rPr>
              <a:t>Astro no reemplaza por completo a los frameworks backend tradicionales, pero funciona muy bien como capa de presentación conectada a servicios web.</a:t>
            </a:r>
          </a:p>
        </p:txBody>
      </p:sp>
      <p:sp>
        <p:nvSpPr>
          <p:cNvPr id="960" name="closebanner"/>
          <p:cNvSpPr/>
          <p:nvPr/>
        </p:nvSpPr>
        <p:spPr>
          <a:xfrm>
            <a:off x="571500" y="5219700"/>
            <a:ext cx="11049000" cy="889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txBody>
          <a:bodyPr wrap="square" lIns="180000" tIns="45700" rIns="180000" bIns="45700" anchor="ctr">
            <a:noAutofit/>
          </a:bodyPr>
          <a:lstStyle/>
          <a:p>
            <a:pPr algn="ctr">
              <a:buNone/>
            </a:pPr>
            <a:r>
              <a:rPr lang="es-ES" sz="1600" b="1" i="1" dirty="0">
                <a:solidFill>
                  <a:srgbClr val="FFFFFF"/>
                </a:solidFill>
                <a:latin typeface="Poppins"/>
              </a:rPr>
              <a:t>“Astro permite construir interfaces rápidas y conectarlas con APIs REST independientes de la tecnología utilizada en el backend.”</a:t>
            </a:r>
          </a:p>
        </p:txBody>
      </p:sp>
      <p:sp>
        <p:nvSpPr>
          <p:cNvPr id="961" name="closebar"/>
          <p:cNvSpPr/>
          <p:nvPr/>
        </p:nvSpPr>
        <p:spPr>
          <a:xfrm>
            <a:off x="571500" y="5219700"/>
            <a:ext cx="76200" cy="889000"/>
          </a:xfrm>
          <a:prstGeom prst="rect">
            <a:avLst/>
          </a:prstGeom>
          <a:solidFill>
            <a:srgbClr val="FF5D01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2871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b92ed93-8411-4348-bbc5-156ce890049f}">
  <we:reference id="WA200010001" version="1.0.0.1" store="en-US" storeType="OMEX"/>
  <we:alternateReferences/>
  <we:properties>
    <we:property name="Microsoft.Office.CampaignId" value="&quot;none&quot;"/>
    <we:property name="claude.fileId" value="&quot;b3da3d84-7a7b-46cd-b393-ec9783332bbc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1565</TotalTime>
  <Words>880</Words>
  <Application>Microsoft Office PowerPoint</Application>
  <PresentationFormat>Panorámica</PresentationFormat>
  <Paragraphs>167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9" baseType="lpstr">
      <vt:lpstr>Aptos</vt:lpstr>
      <vt:lpstr>Arial</vt:lpstr>
      <vt:lpstr>Calibri</vt:lpstr>
      <vt:lpstr>Courier New</vt:lpstr>
      <vt:lpstr>Inter</vt:lpstr>
      <vt:lpstr>Inter Light</vt:lpstr>
      <vt:lpstr>Inter SemiBold</vt:lpstr>
      <vt:lpstr>Poppins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Mariscal</dc:creator>
  <cp:lastModifiedBy>Josué Mariscal</cp:lastModifiedBy>
  <cp:revision>3</cp:revision>
  <dcterms:created xsi:type="dcterms:W3CDTF">2018-06-07T21:39:02Z</dcterms:created>
  <dcterms:modified xsi:type="dcterms:W3CDTF">2026-07-26T04:05:51Z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